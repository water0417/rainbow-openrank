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7"/>
  </p:handoutMasterIdLst>
  <p:sldIdLst>
    <p:sldId id="257" r:id="rId3"/>
    <p:sldId id="263" r:id="rId4"/>
    <p:sldId id="291" r:id="rId5"/>
    <p:sldId id="295" r:id="rId7"/>
    <p:sldId id="297" r:id="rId8"/>
    <p:sldId id="299" r:id="rId9"/>
    <p:sldId id="308" r:id="rId10"/>
    <p:sldId id="309" r:id="rId11"/>
    <p:sldId id="310" r:id="rId12"/>
    <p:sldId id="318" r:id="rId13"/>
    <p:sldId id="258" r:id="rId14"/>
    <p:sldId id="300" r:id="rId15"/>
    <p:sldId id="261" r:id="rId16"/>
    <p:sldId id="315" r:id="rId17"/>
    <p:sldId id="312" r:id="rId18"/>
    <p:sldId id="313" r:id="rId19"/>
    <p:sldId id="314" r:id="rId20"/>
    <p:sldId id="301" r:id="rId21"/>
    <p:sldId id="316" r:id="rId22"/>
    <p:sldId id="305" r:id="rId23"/>
    <p:sldId id="306" r:id="rId24"/>
    <p:sldId id="307" r:id="rId25"/>
    <p:sldId id="28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BFC"/>
    <a:srgbClr val="F9B105"/>
    <a:srgbClr val="FFF8B7"/>
    <a:srgbClr val="FFF1B7"/>
    <a:srgbClr val="DFEDFE"/>
    <a:srgbClr val="FEDB5E"/>
    <a:srgbClr val="C2DCFC"/>
    <a:srgbClr val="5DB1FB"/>
    <a:srgbClr val="D9DCDE"/>
    <a:srgbClr val="D8E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78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78" y="273"/>
      </p:cViewPr>
      <p:guideLst>
        <p:guide orient="horz" pos="2148"/>
        <p:guide pos="38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C0495-4F21-4411-A60E-A6F762AE11AD}" type="datetimeFigureOut">
              <a:rPr lang="en-ID" smtClean="0"/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EADC2-B7E6-4ABD-A5A4-5F82690D6F8A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6" name="Google Shape;7306;g9eef0a043f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7" name="Google Shape;7307;g9eef0a043f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6" name="Google Shape;7306;g9eef0a043f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7" name="Google Shape;7307;g9eef0a043f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6" name="Google Shape;7306;g9eef0a043f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7" name="Google Shape;7307;g9eef0a043f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6" name="Google Shape;7306;g9eef0a043f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7" name="Google Shape;7307;g9eef0a043f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6" name="Google Shape;7306;g9eef0a043f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7" name="Google Shape;7307;g9eef0a043f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6" name="Google Shape;7306;g9eef0a043f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7" name="Google Shape;7307;g9eef0a043f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6" name="Google Shape;7306;g9eef0a043f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7" name="Google Shape;7307;g9eef0a043f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6" name="Google Shape;7306;g9eef0a043f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7" name="Google Shape;7307;g9eef0a043f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7467600" y="1213644"/>
            <a:ext cx="4724400" cy="4430712"/>
          </a:xfrm>
          <a:custGeom>
            <a:avLst/>
            <a:gdLst>
              <a:gd name="connsiteX0" fmla="*/ 274217 w 4724400"/>
              <a:gd name="connsiteY0" fmla="*/ 0 h 4430712"/>
              <a:gd name="connsiteX1" fmla="*/ 3162300 w 4724400"/>
              <a:gd name="connsiteY1" fmla="*/ 0 h 4430712"/>
              <a:gd name="connsiteX2" fmla="*/ 4450183 w 4724400"/>
              <a:gd name="connsiteY2" fmla="*/ 0 h 4430712"/>
              <a:gd name="connsiteX3" fmla="*/ 4724400 w 4724400"/>
              <a:gd name="connsiteY3" fmla="*/ 0 h 4430712"/>
              <a:gd name="connsiteX4" fmla="*/ 4724400 w 4724400"/>
              <a:gd name="connsiteY4" fmla="*/ 274217 h 4430712"/>
              <a:gd name="connsiteX5" fmla="*/ 4724400 w 4724400"/>
              <a:gd name="connsiteY5" fmla="*/ 4156495 h 4430712"/>
              <a:gd name="connsiteX6" fmla="*/ 4724400 w 4724400"/>
              <a:gd name="connsiteY6" fmla="*/ 4430712 h 4430712"/>
              <a:gd name="connsiteX7" fmla="*/ 4450183 w 4724400"/>
              <a:gd name="connsiteY7" fmla="*/ 4430712 h 4430712"/>
              <a:gd name="connsiteX8" fmla="*/ 3162300 w 4724400"/>
              <a:gd name="connsiteY8" fmla="*/ 4430712 h 4430712"/>
              <a:gd name="connsiteX9" fmla="*/ 274217 w 4724400"/>
              <a:gd name="connsiteY9" fmla="*/ 4430712 h 4430712"/>
              <a:gd name="connsiteX10" fmla="*/ 0 w 4724400"/>
              <a:gd name="connsiteY10" fmla="*/ 4156495 h 4430712"/>
              <a:gd name="connsiteX11" fmla="*/ 0 w 4724400"/>
              <a:gd name="connsiteY11" fmla="*/ 274217 h 4430712"/>
              <a:gd name="connsiteX12" fmla="*/ 274217 w 4724400"/>
              <a:gd name="connsiteY12" fmla="*/ 0 h 443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24400" h="4430712">
                <a:moveTo>
                  <a:pt x="274217" y="0"/>
                </a:moveTo>
                <a:lnTo>
                  <a:pt x="3162300" y="0"/>
                </a:lnTo>
                <a:lnTo>
                  <a:pt x="4450183" y="0"/>
                </a:lnTo>
                <a:lnTo>
                  <a:pt x="4724400" y="0"/>
                </a:lnTo>
                <a:lnTo>
                  <a:pt x="4724400" y="274217"/>
                </a:lnTo>
                <a:lnTo>
                  <a:pt x="4724400" y="4156495"/>
                </a:lnTo>
                <a:lnTo>
                  <a:pt x="4724400" y="4430712"/>
                </a:lnTo>
                <a:lnTo>
                  <a:pt x="4450183" y="4430712"/>
                </a:lnTo>
                <a:lnTo>
                  <a:pt x="3162300" y="4430712"/>
                </a:lnTo>
                <a:lnTo>
                  <a:pt x="274217" y="4430712"/>
                </a:lnTo>
                <a:cubicBezTo>
                  <a:pt x="122771" y="4430712"/>
                  <a:pt x="0" y="4307941"/>
                  <a:pt x="0" y="4156495"/>
                </a:cubicBezTo>
                <a:lnTo>
                  <a:pt x="0" y="274217"/>
                </a:lnTo>
                <a:cubicBezTo>
                  <a:pt x="0" y="122771"/>
                  <a:pt x="122771" y="0"/>
                  <a:pt x="27421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2489200" y="3125972"/>
            <a:ext cx="7213600" cy="3732028"/>
          </a:xfrm>
          <a:custGeom>
            <a:avLst/>
            <a:gdLst>
              <a:gd name="connsiteX0" fmla="*/ 0 w 7213600"/>
              <a:gd name="connsiteY0" fmla="*/ 0 h 4089400"/>
              <a:gd name="connsiteX1" fmla="*/ 7213600 w 7213600"/>
              <a:gd name="connsiteY1" fmla="*/ 0 h 4089400"/>
              <a:gd name="connsiteX2" fmla="*/ 7213600 w 7213600"/>
              <a:gd name="connsiteY2" fmla="*/ 4089400 h 4089400"/>
              <a:gd name="connsiteX3" fmla="*/ 0 w 7213600"/>
              <a:gd name="connsiteY3" fmla="*/ 4089400 h 408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13600" h="4089400">
                <a:moveTo>
                  <a:pt x="0" y="0"/>
                </a:moveTo>
                <a:lnTo>
                  <a:pt x="7213600" y="0"/>
                </a:lnTo>
                <a:lnTo>
                  <a:pt x="7213600" y="4089400"/>
                </a:lnTo>
                <a:lnTo>
                  <a:pt x="0" y="4089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7835901" y="549274"/>
            <a:ext cx="3660774" cy="5597525"/>
          </a:xfrm>
          <a:custGeom>
            <a:avLst/>
            <a:gdLst>
              <a:gd name="connsiteX0" fmla="*/ 242966 w 3660774"/>
              <a:gd name="connsiteY0" fmla="*/ 0 h 5597525"/>
              <a:gd name="connsiteX1" fmla="*/ 3417808 w 3660774"/>
              <a:gd name="connsiteY1" fmla="*/ 0 h 5597525"/>
              <a:gd name="connsiteX2" fmla="*/ 3660774 w 3660774"/>
              <a:gd name="connsiteY2" fmla="*/ 242966 h 5597525"/>
              <a:gd name="connsiteX3" fmla="*/ 3660774 w 3660774"/>
              <a:gd name="connsiteY3" fmla="*/ 5354559 h 5597525"/>
              <a:gd name="connsiteX4" fmla="*/ 3417808 w 3660774"/>
              <a:gd name="connsiteY4" fmla="*/ 5597525 h 5597525"/>
              <a:gd name="connsiteX5" fmla="*/ 242966 w 3660774"/>
              <a:gd name="connsiteY5" fmla="*/ 5597525 h 5597525"/>
              <a:gd name="connsiteX6" fmla="*/ 0 w 3660774"/>
              <a:gd name="connsiteY6" fmla="*/ 5354559 h 5597525"/>
              <a:gd name="connsiteX7" fmla="*/ 0 w 3660774"/>
              <a:gd name="connsiteY7" fmla="*/ 242966 h 5597525"/>
              <a:gd name="connsiteX8" fmla="*/ 242966 w 3660774"/>
              <a:gd name="connsiteY8" fmla="*/ 0 h 559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0774" h="5597525">
                <a:moveTo>
                  <a:pt x="242966" y="0"/>
                </a:moveTo>
                <a:lnTo>
                  <a:pt x="3417808" y="0"/>
                </a:lnTo>
                <a:cubicBezTo>
                  <a:pt x="3551994" y="0"/>
                  <a:pt x="3660774" y="108780"/>
                  <a:pt x="3660774" y="242966"/>
                </a:cubicBezTo>
                <a:lnTo>
                  <a:pt x="3660774" y="5354559"/>
                </a:lnTo>
                <a:cubicBezTo>
                  <a:pt x="3660774" y="5488745"/>
                  <a:pt x="3551994" y="5597525"/>
                  <a:pt x="3417808" y="5597525"/>
                </a:cubicBezTo>
                <a:lnTo>
                  <a:pt x="242966" y="5597525"/>
                </a:lnTo>
                <a:cubicBezTo>
                  <a:pt x="108780" y="5597525"/>
                  <a:pt x="0" y="5488745"/>
                  <a:pt x="0" y="5354559"/>
                </a:cubicBezTo>
                <a:lnTo>
                  <a:pt x="0" y="242966"/>
                </a:lnTo>
                <a:cubicBezTo>
                  <a:pt x="0" y="108780"/>
                  <a:pt x="108780" y="0"/>
                  <a:pt x="24296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790948" y="549275"/>
            <a:ext cx="3727451" cy="6308725"/>
          </a:xfrm>
          <a:custGeom>
            <a:avLst/>
            <a:gdLst>
              <a:gd name="connsiteX0" fmla="*/ 492341 w 3727451"/>
              <a:gd name="connsiteY0" fmla="*/ 0 h 6308725"/>
              <a:gd name="connsiteX1" fmla="*/ 3228763 w 3727451"/>
              <a:gd name="connsiteY1" fmla="*/ 0 h 6308725"/>
              <a:gd name="connsiteX2" fmla="*/ 3721102 w 3727451"/>
              <a:gd name="connsiteY2" fmla="*/ 492339 h 6308725"/>
              <a:gd name="connsiteX3" fmla="*/ 3721102 w 3727451"/>
              <a:gd name="connsiteY3" fmla="*/ 4949825 h 6308725"/>
              <a:gd name="connsiteX4" fmla="*/ 3727451 w 3727451"/>
              <a:gd name="connsiteY4" fmla="*/ 4949825 h 6308725"/>
              <a:gd name="connsiteX5" fmla="*/ 3727451 w 3727451"/>
              <a:gd name="connsiteY5" fmla="*/ 6308725 h 6308725"/>
              <a:gd name="connsiteX6" fmla="*/ 0 w 3727451"/>
              <a:gd name="connsiteY6" fmla="*/ 6308725 h 6308725"/>
              <a:gd name="connsiteX7" fmla="*/ 0 w 3727451"/>
              <a:gd name="connsiteY7" fmla="*/ 4949825 h 6308725"/>
              <a:gd name="connsiteX8" fmla="*/ 1 w 3727451"/>
              <a:gd name="connsiteY8" fmla="*/ 4949825 h 6308725"/>
              <a:gd name="connsiteX9" fmla="*/ 1 w 3727451"/>
              <a:gd name="connsiteY9" fmla="*/ 4914900 h 6308725"/>
              <a:gd name="connsiteX10" fmla="*/ 2 w 3727451"/>
              <a:gd name="connsiteY10" fmla="*/ 4914900 h 6308725"/>
              <a:gd name="connsiteX11" fmla="*/ 2 w 3727451"/>
              <a:gd name="connsiteY11" fmla="*/ 492339 h 6308725"/>
              <a:gd name="connsiteX12" fmla="*/ 492341 w 3727451"/>
              <a:gd name="connsiteY12" fmla="*/ 0 h 630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27451" h="6308725">
                <a:moveTo>
                  <a:pt x="492341" y="0"/>
                </a:moveTo>
                <a:lnTo>
                  <a:pt x="3228763" y="0"/>
                </a:lnTo>
                <a:cubicBezTo>
                  <a:pt x="3500674" y="0"/>
                  <a:pt x="3721102" y="220428"/>
                  <a:pt x="3721102" y="492339"/>
                </a:cubicBezTo>
                <a:lnTo>
                  <a:pt x="3721102" y="4949825"/>
                </a:lnTo>
                <a:lnTo>
                  <a:pt x="3727451" y="4949825"/>
                </a:lnTo>
                <a:lnTo>
                  <a:pt x="3727451" y="6308725"/>
                </a:lnTo>
                <a:lnTo>
                  <a:pt x="0" y="6308725"/>
                </a:lnTo>
                <a:lnTo>
                  <a:pt x="0" y="4949825"/>
                </a:lnTo>
                <a:lnTo>
                  <a:pt x="1" y="4949825"/>
                </a:lnTo>
                <a:lnTo>
                  <a:pt x="1" y="4914900"/>
                </a:lnTo>
                <a:lnTo>
                  <a:pt x="2" y="4914900"/>
                </a:lnTo>
                <a:lnTo>
                  <a:pt x="2" y="492339"/>
                </a:lnTo>
                <a:cubicBezTo>
                  <a:pt x="2" y="220428"/>
                  <a:pt x="220430" y="0"/>
                  <a:pt x="49234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4"/>
          </p:nvPr>
        </p:nvSpPr>
        <p:spPr>
          <a:xfrm>
            <a:off x="9785349" y="2590800"/>
            <a:ext cx="1241426" cy="1241426"/>
          </a:xfrm>
          <a:custGeom>
            <a:avLst/>
            <a:gdLst>
              <a:gd name="connsiteX0" fmla="*/ 620713 w 1241426"/>
              <a:gd name="connsiteY0" fmla="*/ 0 h 1241426"/>
              <a:gd name="connsiteX1" fmla="*/ 1241426 w 1241426"/>
              <a:gd name="connsiteY1" fmla="*/ 620713 h 1241426"/>
              <a:gd name="connsiteX2" fmla="*/ 620713 w 1241426"/>
              <a:gd name="connsiteY2" fmla="*/ 1241426 h 1241426"/>
              <a:gd name="connsiteX3" fmla="*/ 0 w 1241426"/>
              <a:gd name="connsiteY3" fmla="*/ 620713 h 1241426"/>
              <a:gd name="connsiteX4" fmla="*/ 620713 w 1241426"/>
              <a:gd name="connsiteY4" fmla="*/ 0 h 1241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1426" h="1241426">
                <a:moveTo>
                  <a:pt x="620713" y="0"/>
                </a:moveTo>
                <a:cubicBezTo>
                  <a:pt x="963523" y="0"/>
                  <a:pt x="1241426" y="277903"/>
                  <a:pt x="1241426" y="620713"/>
                </a:cubicBezTo>
                <a:cubicBezTo>
                  <a:pt x="1241426" y="963523"/>
                  <a:pt x="963523" y="1241426"/>
                  <a:pt x="620713" y="1241426"/>
                </a:cubicBezTo>
                <a:cubicBezTo>
                  <a:pt x="277903" y="1241426"/>
                  <a:pt x="0" y="963523"/>
                  <a:pt x="0" y="620713"/>
                </a:cubicBezTo>
                <a:cubicBezTo>
                  <a:pt x="0" y="277903"/>
                  <a:pt x="277903" y="0"/>
                  <a:pt x="620713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3373438" y="763586"/>
            <a:ext cx="1241426" cy="1241426"/>
          </a:xfrm>
          <a:custGeom>
            <a:avLst/>
            <a:gdLst>
              <a:gd name="connsiteX0" fmla="*/ 620713 w 1241426"/>
              <a:gd name="connsiteY0" fmla="*/ 0 h 1241426"/>
              <a:gd name="connsiteX1" fmla="*/ 1241426 w 1241426"/>
              <a:gd name="connsiteY1" fmla="*/ 620713 h 1241426"/>
              <a:gd name="connsiteX2" fmla="*/ 620713 w 1241426"/>
              <a:gd name="connsiteY2" fmla="*/ 1241426 h 1241426"/>
              <a:gd name="connsiteX3" fmla="*/ 0 w 1241426"/>
              <a:gd name="connsiteY3" fmla="*/ 620713 h 1241426"/>
              <a:gd name="connsiteX4" fmla="*/ 620713 w 1241426"/>
              <a:gd name="connsiteY4" fmla="*/ 0 h 1241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1426" h="1241426">
                <a:moveTo>
                  <a:pt x="620713" y="0"/>
                </a:moveTo>
                <a:cubicBezTo>
                  <a:pt x="963523" y="0"/>
                  <a:pt x="1241426" y="277903"/>
                  <a:pt x="1241426" y="620713"/>
                </a:cubicBezTo>
                <a:cubicBezTo>
                  <a:pt x="1241426" y="963523"/>
                  <a:pt x="963523" y="1241426"/>
                  <a:pt x="620713" y="1241426"/>
                </a:cubicBezTo>
                <a:cubicBezTo>
                  <a:pt x="277903" y="1241426"/>
                  <a:pt x="0" y="963523"/>
                  <a:pt x="0" y="620713"/>
                </a:cubicBezTo>
                <a:cubicBezTo>
                  <a:pt x="0" y="277903"/>
                  <a:pt x="277903" y="0"/>
                  <a:pt x="620713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695324" y="2171700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/>
          </p:nvPr>
        </p:nvSpPr>
        <p:spPr>
          <a:xfrm>
            <a:off x="6315075" y="1192210"/>
            <a:ext cx="812800" cy="812800"/>
          </a:xfrm>
          <a:custGeom>
            <a:avLst/>
            <a:gdLst>
              <a:gd name="connsiteX0" fmla="*/ 406400 w 812800"/>
              <a:gd name="connsiteY0" fmla="*/ 0 h 812800"/>
              <a:gd name="connsiteX1" fmla="*/ 812800 w 812800"/>
              <a:gd name="connsiteY1" fmla="*/ 406400 h 812800"/>
              <a:gd name="connsiteX2" fmla="*/ 406400 w 812800"/>
              <a:gd name="connsiteY2" fmla="*/ 812800 h 812800"/>
              <a:gd name="connsiteX3" fmla="*/ 0 w 812800"/>
              <a:gd name="connsiteY3" fmla="*/ 406400 h 812800"/>
              <a:gd name="connsiteX4" fmla="*/ 406400 w 812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00" h="812800">
                <a:moveTo>
                  <a:pt x="406400" y="0"/>
                </a:moveTo>
                <a:cubicBezTo>
                  <a:pt x="630849" y="0"/>
                  <a:pt x="812800" y="181951"/>
                  <a:pt x="812800" y="406400"/>
                </a:cubicBezTo>
                <a:cubicBezTo>
                  <a:pt x="812800" y="630849"/>
                  <a:pt x="630849" y="812800"/>
                  <a:pt x="406400" y="812800"/>
                </a:cubicBezTo>
                <a:cubicBezTo>
                  <a:pt x="181951" y="812800"/>
                  <a:pt x="0" y="630849"/>
                  <a:pt x="0" y="406400"/>
                </a:cubicBez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890810" y="4749800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5"/>
          </p:nvPr>
        </p:nvSpPr>
        <p:spPr>
          <a:xfrm>
            <a:off x="4137554" y="4530375"/>
            <a:ext cx="1241426" cy="1241426"/>
          </a:xfrm>
          <a:custGeom>
            <a:avLst/>
            <a:gdLst>
              <a:gd name="connsiteX0" fmla="*/ 620713 w 1241426"/>
              <a:gd name="connsiteY0" fmla="*/ 0 h 1241426"/>
              <a:gd name="connsiteX1" fmla="*/ 1241426 w 1241426"/>
              <a:gd name="connsiteY1" fmla="*/ 620713 h 1241426"/>
              <a:gd name="connsiteX2" fmla="*/ 620713 w 1241426"/>
              <a:gd name="connsiteY2" fmla="*/ 1241426 h 1241426"/>
              <a:gd name="connsiteX3" fmla="*/ 0 w 1241426"/>
              <a:gd name="connsiteY3" fmla="*/ 620713 h 1241426"/>
              <a:gd name="connsiteX4" fmla="*/ 620713 w 1241426"/>
              <a:gd name="connsiteY4" fmla="*/ 0 h 1241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1426" h="1241426">
                <a:moveTo>
                  <a:pt x="620713" y="0"/>
                </a:moveTo>
                <a:cubicBezTo>
                  <a:pt x="963523" y="0"/>
                  <a:pt x="1241426" y="277903"/>
                  <a:pt x="1241426" y="620713"/>
                </a:cubicBezTo>
                <a:cubicBezTo>
                  <a:pt x="1241426" y="963523"/>
                  <a:pt x="963523" y="1241426"/>
                  <a:pt x="620713" y="1241426"/>
                </a:cubicBezTo>
                <a:cubicBezTo>
                  <a:pt x="277903" y="1241426"/>
                  <a:pt x="0" y="963523"/>
                  <a:pt x="0" y="620713"/>
                </a:cubicBezTo>
                <a:cubicBezTo>
                  <a:pt x="0" y="277903"/>
                  <a:pt x="277903" y="0"/>
                  <a:pt x="620713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6"/>
          </p:nvPr>
        </p:nvSpPr>
        <p:spPr>
          <a:xfrm>
            <a:off x="8528050" y="785811"/>
            <a:ext cx="812800" cy="812800"/>
          </a:xfrm>
          <a:custGeom>
            <a:avLst/>
            <a:gdLst>
              <a:gd name="connsiteX0" fmla="*/ 406400 w 812800"/>
              <a:gd name="connsiteY0" fmla="*/ 0 h 812800"/>
              <a:gd name="connsiteX1" fmla="*/ 812800 w 812800"/>
              <a:gd name="connsiteY1" fmla="*/ 406400 h 812800"/>
              <a:gd name="connsiteX2" fmla="*/ 406400 w 812800"/>
              <a:gd name="connsiteY2" fmla="*/ 812800 h 812800"/>
              <a:gd name="connsiteX3" fmla="*/ 0 w 812800"/>
              <a:gd name="connsiteY3" fmla="*/ 406400 h 812800"/>
              <a:gd name="connsiteX4" fmla="*/ 406400 w 812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00" h="812800">
                <a:moveTo>
                  <a:pt x="406400" y="0"/>
                </a:moveTo>
                <a:cubicBezTo>
                  <a:pt x="630849" y="0"/>
                  <a:pt x="812800" y="181951"/>
                  <a:pt x="812800" y="406400"/>
                </a:cubicBezTo>
                <a:cubicBezTo>
                  <a:pt x="812800" y="630849"/>
                  <a:pt x="630849" y="812800"/>
                  <a:pt x="406400" y="812800"/>
                </a:cubicBezTo>
                <a:cubicBezTo>
                  <a:pt x="181951" y="812800"/>
                  <a:pt x="0" y="630849"/>
                  <a:pt x="0" y="406400"/>
                </a:cubicBez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7"/>
          </p:nvPr>
        </p:nvSpPr>
        <p:spPr>
          <a:xfrm>
            <a:off x="1829857" y="5105400"/>
            <a:ext cx="812800" cy="812800"/>
          </a:xfrm>
          <a:custGeom>
            <a:avLst/>
            <a:gdLst>
              <a:gd name="connsiteX0" fmla="*/ 406400 w 812800"/>
              <a:gd name="connsiteY0" fmla="*/ 0 h 812800"/>
              <a:gd name="connsiteX1" fmla="*/ 812800 w 812800"/>
              <a:gd name="connsiteY1" fmla="*/ 406400 h 812800"/>
              <a:gd name="connsiteX2" fmla="*/ 406400 w 812800"/>
              <a:gd name="connsiteY2" fmla="*/ 812800 h 812800"/>
              <a:gd name="connsiteX3" fmla="*/ 0 w 812800"/>
              <a:gd name="connsiteY3" fmla="*/ 406400 h 812800"/>
              <a:gd name="connsiteX4" fmla="*/ 406400 w 812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00" h="812800">
                <a:moveTo>
                  <a:pt x="406400" y="0"/>
                </a:moveTo>
                <a:cubicBezTo>
                  <a:pt x="630849" y="0"/>
                  <a:pt x="812800" y="181951"/>
                  <a:pt x="812800" y="406400"/>
                </a:cubicBezTo>
                <a:cubicBezTo>
                  <a:pt x="812800" y="630849"/>
                  <a:pt x="630849" y="812800"/>
                  <a:pt x="406400" y="812800"/>
                </a:cubicBezTo>
                <a:cubicBezTo>
                  <a:pt x="181951" y="812800"/>
                  <a:pt x="0" y="630849"/>
                  <a:pt x="0" y="406400"/>
                </a:cubicBez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10213975" y="5105400"/>
            <a:ext cx="812800" cy="812800"/>
          </a:xfrm>
          <a:custGeom>
            <a:avLst/>
            <a:gdLst>
              <a:gd name="connsiteX0" fmla="*/ 406400 w 812800"/>
              <a:gd name="connsiteY0" fmla="*/ 0 h 812800"/>
              <a:gd name="connsiteX1" fmla="*/ 812800 w 812800"/>
              <a:gd name="connsiteY1" fmla="*/ 406400 h 812800"/>
              <a:gd name="connsiteX2" fmla="*/ 406400 w 812800"/>
              <a:gd name="connsiteY2" fmla="*/ 812800 h 812800"/>
              <a:gd name="connsiteX3" fmla="*/ 0 w 812800"/>
              <a:gd name="connsiteY3" fmla="*/ 406400 h 812800"/>
              <a:gd name="connsiteX4" fmla="*/ 406400 w 812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00" h="812800">
                <a:moveTo>
                  <a:pt x="406400" y="0"/>
                </a:moveTo>
                <a:cubicBezTo>
                  <a:pt x="630849" y="0"/>
                  <a:pt x="812800" y="181951"/>
                  <a:pt x="812800" y="406400"/>
                </a:cubicBezTo>
                <a:cubicBezTo>
                  <a:pt x="812800" y="630849"/>
                  <a:pt x="630849" y="812800"/>
                  <a:pt x="406400" y="812800"/>
                </a:cubicBezTo>
                <a:cubicBezTo>
                  <a:pt x="181951" y="812800"/>
                  <a:pt x="0" y="630849"/>
                  <a:pt x="0" y="406400"/>
                </a:cubicBez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058859" y="943412"/>
            <a:ext cx="3949704" cy="2713751"/>
          </a:xfrm>
          <a:custGeom>
            <a:avLst/>
            <a:gdLst>
              <a:gd name="connsiteX0" fmla="*/ 142797 w 3949704"/>
              <a:gd name="connsiteY0" fmla="*/ 0 h 2713751"/>
              <a:gd name="connsiteX1" fmla="*/ 3806906 w 3949704"/>
              <a:gd name="connsiteY1" fmla="*/ 0 h 2713751"/>
              <a:gd name="connsiteX2" fmla="*/ 3949704 w 3949704"/>
              <a:gd name="connsiteY2" fmla="*/ 142797 h 2713751"/>
              <a:gd name="connsiteX3" fmla="*/ 3949704 w 3949704"/>
              <a:gd name="connsiteY3" fmla="*/ 2570953 h 2713751"/>
              <a:gd name="connsiteX4" fmla="*/ 3806906 w 3949704"/>
              <a:gd name="connsiteY4" fmla="*/ 2713751 h 2713751"/>
              <a:gd name="connsiteX5" fmla="*/ 142797 w 3949704"/>
              <a:gd name="connsiteY5" fmla="*/ 2713751 h 2713751"/>
              <a:gd name="connsiteX6" fmla="*/ 0 w 3949704"/>
              <a:gd name="connsiteY6" fmla="*/ 2570953 h 2713751"/>
              <a:gd name="connsiteX7" fmla="*/ 0 w 3949704"/>
              <a:gd name="connsiteY7" fmla="*/ 142797 h 2713751"/>
              <a:gd name="connsiteX8" fmla="*/ 142797 w 3949704"/>
              <a:gd name="connsiteY8" fmla="*/ 0 h 2713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49704" h="2713751">
                <a:moveTo>
                  <a:pt x="142797" y="0"/>
                </a:moveTo>
                <a:lnTo>
                  <a:pt x="3806906" y="0"/>
                </a:lnTo>
                <a:cubicBezTo>
                  <a:pt x="3885771" y="0"/>
                  <a:pt x="3949704" y="63933"/>
                  <a:pt x="3949704" y="142797"/>
                </a:cubicBezTo>
                <a:lnTo>
                  <a:pt x="3949704" y="2570953"/>
                </a:lnTo>
                <a:cubicBezTo>
                  <a:pt x="3949704" y="2649818"/>
                  <a:pt x="3885771" y="2713751"/>
                  <a:pt x="3806906" y="2713751"/>
                </a:cubicBezTo>
                <a:lnTo>
                  <a:pt x="142797" y="2713751"/>
                </a:lnTo>
                <a:cubicBezTo>
                  <a:pt x="63932" y="2713751"/>
                  <a:pt x="0" y="2649818"/>
                  <a:pt x="0" y="2570953"/>
                </a:cubicBezTo>
                <a:lnTo>
                  <a:pt x="0" y="142797"/>
                </a:lnTo>
                <a:cubicBezTo>
                  <a:pt x="0" y="63933"/>
                  <a:pt x="63932" y="0"/>
                  <a:pt x="14279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922961" y="4169652"/>
            <a:ext cx="2518609" cy="1977148"/>
          </a:xfrm>
          <a:custGeom>
            <a:avLst/>
            <a:gdLst>
              <a:gd name="connsiteX0" fmla="*/ 104037 w 2518609"/>
              <a:gd name="connsiteY0" fmla="*/ 0 h 1977148"/>
              <a:gd name="connsiteX1" fmla="*/ 2414572 w 2518609"/>
              <a:gd name="connsiteY1" fmla="*/ 0 h 1977148"/>
              <a:gd name="connsiteX2" fmla="*/ 2518609 w 2518609"/>
              <a:gd name="connsiteY2" fmla="*/ 104037 h 1977148"/>
              <a:gd name="connsiteX3" fmla="*/ 2518609 w 2518609"/>
              <a:gd name="connsiteY3" fmla="*/ 1873111 h 1977148"/>
              <a:gd name="connsiteX4" fmla="*/ 2414572 w 2518609"/>
              <a:gd name="connsiteY4" fmla="*/ 1977148 h 1977148"/>
              <a:gd name="connsiteX5" fmla="*/ 104037 w 2518609"/>
              <a:gd name="connsiteY5" fmla="*/ 1977148 h 1977148"/>
              <a:gd name="connsiteX6" fmla="*/ 0 w 2518609"/>
              <a:gd name="connsiteY6" fmla="*/ 1873111 h 1977148"/>
              <a:gd name="connsiteX7" fmla="*/ 0 w 2518609"/>
              <a:gd name="connsiteY7" fmla="*/ 104037 h 1977148"/>
              <a:gd name="connsiteX8" fmla="*/ 104037 w 2518609"/>
              <a:gd name="connsiteY8" fmla="*/ 0 h 197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8609" h="1977148">
                <a:moveTo>
                  <a:pt x="104037" y="0"/>
                </a:moveTo>
                <a:lnTo>
                  <a:pt x="2414572" y="0"/>
                </a:lnTo>
                <a:cubicBezTo>
                  <a:pt x="2472029" y="0"/>
                  <a:pt x="2518609" y="46579"/>
                  <a:pt x="2518609" y="104037"/>
                </a:cubicBezTo>
                <a:lnTo>
                  <a:pt x="2518609" y="1873111"/>
                </a:lnTo>
                <a:cubicBezTo>
                  <a:pt x="2518609" y="1930569"/>
                  <a:pt x="2472029" y="1977148"/>
                  <a:pt x="2414572" y="1977148"/>
                </a:cubicBezTo>
                <a:lnTo>
                  <a:pt x="104037" y="1977148"/>
                </a:lnTo>
                <a:cubicBezTo>
                  <a:pt x="46579" y="1977148"/>
                  <a:pt x="0" y="1930569"/>
                  <a:pt x="0" y="1873111"/>
                </a:cubicBezTo>
                <a:lnTo>
                  <a:pt x="0" y="104037"/>
                </a:lnTo>
                <a:cubicBezTo>
                  <a:pt x="0" y="46579"/>
                  <a:pt x="46579" y="0"/>
                  <a:pt x="10403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8978068" y="4165603"/>
            <a:ext cx="2518608" cy="1977148"/>
          </a:xfrm>
          <a:custGeom>
            <a:avLst/>
            <a:gdLst>
              <a:gd name="connsiteX0" fmla="*/ 104038 w 2518608"/>
              <a:gd name="connsiteY0" fmla="*/ 0 h 1977148"/>
              <a:gd name="connsiteX1" fmla="*/ 2414570 w 2518608"/>
              <a:gd name="connsiteY1" fmla="*/ 0 h 1977148"/>
              <a:gd name="connsiteX2" fmla="*/ 2518608 w 2518608"/>
              <a:gd name="connsiteY2" fmla="*/ 104038 h 1977148"/>
              <a:gd name="connsiteX3" fmla="*/ 2518608 w 2518608"/>
              <a:gd name="connsiteY3" fmla="*/ 1873110 h 1977148"/>
              <a:gd name="connsiteX4" fmla="*/ 2414570 w 2518608"/>
              <a:gd name="connsiteY4" fmla="*/ 1977148 h 1977148"/>
              <a:gd name="connsiteX5" fmla="*/ 104038 w 2518608"/>
              <a:gd name="connsiteY5" fmla="*/ 1977148 h 1977148"/>
              <a:gd name="connsiteX6" fmla="*/ 0 w 2518608"/>
              <a:gd name="connsiteY6" fmla="*/ 1873110 h 1977148"/>
              <a:gd name="connsiteX7" fmla="*/ 0 w 2518608"/>
              <a:gd name="connsiteY7" fmla="*/ 104038 h 1977148"/>
              <a:gd name="connsiteX8" fmla="*/ 104038 w 2518608"/>
              <a:gd name="connsiteY8" fmla="*/ 0 h 197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8608" h="1977148">
                <a:moveTo>
                  <a:pt x="104038" y="0"/>
                </a:moveTo>
                <a:lnTo>
                  <a:pt x="2414570" y="0"/>
                </a:lnTo>
                <a:cubicBezTo>
                  <a:pt x="2472029" y="0"/>
                  <a:pt x="2518608" y="46579"/>
                  <a:pt x="2518608" y="104038"/>
                </a:cubicBezTo>
                <a:lnTo>
                  <a:pt x="2518608" y="1873110"/>
                </a:lnTo>
                <a:cubicBezTo>
                  <a:pt x="2518608" y="1930569"/>
                  <a:pt x="2472029" y="1977148"/>
                  <a:pt x="2414570" y="1977148"/>
                </a:cubicBezTo>
                <a:lnTo>
                  <a:pt x="104038" y="1977148"/>
                </a:lnTo>
                <a:cubicBezTo>
                  <a:pt x="46579" y="1977148"/>
                  <a:pt x="0" y="1930569"/>
                  <a:pt x="0" y="1873110"/>
                </a:cubicBezTo>
                <a:lnTo>
                  <a:pt x="0" y="104038"/>
                </a:lnTo>
                <a:cubicBezTo>
                  <a:pt x="0" y="46579"/>
                  <a:pt x="46579" y="0"/>
                  <a:pt x="1040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435600" y="549275"/>
            <a:ext cx="2736894" cy="3362326"/>
          </a:xfrm>
          <a:custGeom>
            <a:avLst/>
            <a:gdLst>
              <a:gd name="connsiteX0" fmla="*/ 240245 w 2736894"/>
              <a:gd name="connsiteY0" fmla="*/ 0 h 3362326"/>
              <a:gd name="connsiteX1" fmla="*/ 2496649 w 2736894"/>
              <a:gd name="connsiteY1" fmla="*/ 0 h 3362326"/>
              <a:gd name="connsiteX2" fmla="*/ 2736894 w 2736894"/>
              <a:gd name="connsiteY2" fmla="*/ 240245 h 3362326"/>
              <a:gd name="connsiteX3" fmla="*/ 2736894 w 2736894"/>
              <a:gd name="connsiteY3" fmla="*/ 3122081 h 3362326"/>
              <a:gd name="connsiteX4" fmla="*/ 2496649 w 2736894"/>
              <a:gd name="connsiteY4" fmla="*/ 3362326 h 3362326"/>
              <a:gd name="connsiteX5" fmla="*/ 240245 w 2736894"/>
              <a:gd name="connsiteY5" fmla="*/ 3362326 h 3362326"/>
              <a:gd name="connsiteX6" fmla="*/ 0 w 2736894"/>
              <a:gd name="connsiteY6" fmla="*/ 3122081 h 3362326"/>
              <a:gd name="connsiteX7" fmla="*/ 0 w 2736894"/>
              <a:gd name="connsiteY7" fmla="*/ 240245 h 3362326"/>
              <a:gd name="connsiteX8" fmla="*/ 240245 w 2736894"/>
              <a:gd name="connsiteY8" fmla="*/ 0 h 336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894" h="3362326">
                <a:moveTo>
                  <a:pt x="240245" y="0"/>
                </a:moveTo>
                <a:lnTo>
                  <a:pt x="2496649" y="0"/>
                </a:lnTo>
                <a:cubicBezTo>
                  <a:pt x="2629333" y="0"/>
                  <a:pt x="2736894" y="107561"/>
                  <a:pt x="2736894" y="240245"/>
                </a:cubicBezTo>
                <a:lnTo>
                  <a:pt x="2736894" y="3122081"/>
                </a:lnTo>
                <a:cubicBezTo>
                  <a:pt x="2736894" y="3254765"/>
                  <a:pt x="2629333" y="3362326"/>
                  <a:pt x="2496649" y="3362326"/>
                </a:cubicBezTo>
                <a:lnTo>
                  <a:pt x="240245" y="3362326"/>
                </a:lnTo>
                <a:cubicBezTo>
                  <a:pt x="107561" y="3362326"/>
                  <a:pt x="0" y="3254765"/>
                  <a:pt x="0" y="3122081"/>
                </a:cubicBezTo>
                <a:lnTo>
                  <a:pt x="0" y="240245"/>
                </a:lnTo>
                <a:cubicBezTo>
                  <a:pt x="0" y="107561"/>
                  <a:pt x="107561" y="0"/>
                  <a:pt x="24024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8747080" y="2946399"/>
            <a:ext cx="2736894" cy="3362326"/>
          </a:xfrm>
          <a:custGeom>
            <a:avLst/>
            <a:gdLst>
              <a:gd name="connsiteX0" fmla="*/ 240245 w 2736894"/>
              <a:gd name="connsiteY0" fmla="*/ 0 h 3362326"/>
              <a:gd name="connsiteX1" fmla="*/ 2496649 w 2736894"/>
              <a:gd name="connsiteY1" fmla="*/ 0 h 3362326"/>
              <a:gd name="connsiteX2" fmla="*/ 2736894 w 2736894"/>
              <a:gd name="connsiteY2" fmla="*/ 240245 h 3362326"/>
              <a:gd name="connsiteX3" fmla="*/ 2736894 w 2736894"/>
              <a:gd name="connsiteY3" fmla="*/ 3122081 h 3362326"/>
              <a:gd name="connsiteX4" fmla="*/ 2496649 w 2736894"/>
              <a:gd name="connsiteY4" fmla="*/ 3362326 h 3362326"/>
              <a:gd name="connsiteX5" fmla="*/ 240245 w 2736894"/>
              <a:gd name="connsiteY5" fmla="*/ 3362326 h 3362326"/>
              <a:gd name="connsiteX6" fmla="*/ 0 w 2736894"/>
              <a:gd name="connsiteY6" fmla="*/ 3122081 h 3362326"/>
              <a:gd name="connsiteX7" fmla="*/ 0 w 2736894"/>
              <a:gd name="connsiteY7" fmla="*/ 240245 h 3362326"/>
              <a:gd name="connsiteX8" fmla="*/ 240245 w 2736894"/>
              <a:gd name="connsiteY8" fmla="*/ 0 h 336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894" h="3362326">
                <a:moveTo>
                  <a:pt x="240245" y="0"/>
                </a:moveTo>
                <a:lnTo>
                  <a:pt x="2496649" y="0"/>
                </a:lnTo>
                <a:cubicBezTo>
                  <a:pt x="2629333" y="0"/>
                  <a:pt x="2736894" y="107561"/>
                  <a:pt x="2736894" y="240245"/>
                </a:cubicBezTo>
                <a:lnTo>
                  <a:pt x="2736894" y="3122081"/>
                </a:lnTo>
                <a:cubicBezTo>
                  <a:pt x="2736894" y="3254765"/>
                  <a:pt x="2629333" y="3362326"/>
                  <a:pt x="2496649" y="3362326"/>
                </a:cubicBezTo>
                <a:lnTo>
                  <a:pt x="240245" y="3362326"/>
                </a:lnTo>
                <a:cubicBezTo>
                  <a:pt x="107561" y="3362326"/>
                  <a:pt x="0" y="3254765"/>
                  <a:pt x="0" y="3122081"/>
                </a:cubicBezTo>
                <a:lnTo>
                  <a:pt x="0" y="240245"/>
                </a:lnTo>
                <a:cubicBezTo>
                  <a:pt x="0" y="107561"/>
                  <a:pt x="107561" y="0"/>
                  <a:pt x="24024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12339" y="922867"/>
            <a:ext cx="3692728" cy="7977293"/>
          </a:xfrm>
          <a:custGeom>
            <a:avLst/>
            <a:gdLst>
              <a:gd name="connsiteX0" fmla="*/ 352988 w 3692728"/>
              <a:gd name="connsiteY0" fmla="*/ 0 h 7977293"/>
              <a:gd name="connsiteX1" fmla="*/ 3339740 w 3692728"/>
              <a:gd name="connsiteY1" fmla="*/ 0 h 7977293"/>
              <a:gd name="connsiteX2" fmla="*/ 3692728 w 3692728"/>
              <a:gd name="connsiteY2" fmla="*/ 352988 h 7977293"/>
              <a:gd name="connsiteX3" fmla="*/ 3692728 w 3692728"/>
              <a:gd name="connsiteY3" fmla="*/ 7624305 h 7977293"/>
              <a:gd name="connsiteX4" fmla="*/ 3339740 w 3692728"/>
              <a:gd name="connsiteY4" fmla="*/ 7977293 h 7977293"/>
              <a:gd name="connsiteX5" fmla="*/ 352988 w 3692728"/>
              <a:gd name="connsiteY5" fmla="*/ 7977293 h 7977293"/>
              <a:gd name="connsiteX6" fmla="*/ 0 w 3692728"/>
              <a:gd name="connsiteY6" fmla="*/ 7624305 h 7977293"/>
              <a:gd name="connsiteX7" fmla="*/ 0 w 3692728"/>
              <a:gd name="connsiteY7" fmla="*/ 352988 h 7977293"/>
              <a:gd name="connsiteX8" fmla="*/ 352988 w 3692728"/>
              <a:gd name="connsiteY8" fmla="*/ 0 h 7977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2728" h="7977293">
                <a:moveTo>
                  <a:pt x="352988" y="0"/>
                </a:moveTo>
                <a:lnTo>
                  <a:pt x="3339740" y="0"/>
                </a:lnTo>
                <a:cubicBezTo>
                  <a:pt x="3534690" y="0"/>
                  <a:pt x="3692728" y="158038"/>
                  <a:pt x="3692728" y="352988"/>
                </a:cubicBezTo>
                <a:lnTo>
                  <a:pt x="3692728" y="7624305"/>
                </a:lnTo>
                <a:cubicBezTo>
                  <a:pt x="3692728" y="7819255"/>
                  <a:pt x="3534690" y="7977293"/>
                  <a:pt x="3339740" y="7977293"/>
                </a:cubicBezTo>
                <a:lnTo>
                  <a:pt x="352988" y="7977293"/>
                </a:lnTo>
                <a:cubicBezTo>
                  <a:pt x="158038" y="7977293"/>
                  <a:pt x="0" y="7819255"/>
                  <a:pt x="0" y="7624305"/>
                </a:cubicBezTo>
                <a:lnTo>
                  <a:pt x="0" y="352988"/>
                </a:lnTo>
                <a:cubicBezTo>
                  <a:pt x="0" y="158038"/>
                  <a:pt x="158038" y="0"/>
                  <a:pt x="35298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998552" y="991518"/>
            <a:ext cx="3375143" cy="4799905"/>
          </a:xfrm>
          <a:custGeom>
            <a:avLst/>
            <a:gdLst>
              <a:gd name="connsiteX0" fmla="*/ 55757 w 3375143"/>
              <a:gd name="connsiteY0" fmla="*/ 0 h 4799905"/>
              <a:gd name="connsiteX1" fmla="*/ 3319386 w 3375143"/>
              <a:gd name="connsiteY1" fmla="*/ 0 h 4799905"/>
              <a:gd name="connsiteX2" fmla="*/ 3375143 w 3375143"/>
              <a:gd name="connsiteY2" fmla="*/ 55757 h 4799905"/>
              <a:gd name="connsiteX3" fmla="*/ 3375143 w 3375143"/>
              <a:gd name="connsiteY3" fmla="*/ 4744148 h 4799905"/>
              <a:gd name="connsiteX4" fmla="*/ 3319386 w 3375143"/>
              <a:gd name="connsiteY4" fmla="*/ 4799905 h 4799905"/>
              <a:gd name="connsiteX5" fmla="*/ 55757 w 3375143"/>
              <a:gd name="connsiteY5" fmla="*/ 4799905 h 4799905"/>
              <a:gd name="connsiteX6" fmla="*/ 0 w 3375143"/>
              <a:gd name="connsiteY6" fmla="*/ 4744148 h 4799905"/>
              <a:gd name="connsiteX7" fmla="*/ 0 w 3375143"/>
              <a:gd name="connsiteY7" fmla="*/ 55757 h 4799905"/>
              <a:gd name="connsiteX8" fmla="*/ 55757 w 3375143"/>
              <a:gd name="connsiteY8" fmla="*/ 0 h 4799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75143" h="4799905">
                <a:moveTo>
                  <a:pt x="55757" y="0"/>
                </a:moveTo>
                <a:lnTo>
                  <a:pt x="3319386" y="0"/>
                </a:lnTo>
                <a:cubicBezTo>
                  <a:pt x="3350180" y="0"/>
                  <a:pt x="3375143" y="24963"/>
                  <a:pt x="3375143" y="55757"/>
                </a:cubicBezTo>
                <a:lnTo>
                  <a:pt x="3375143" y="4744148"/>
                </a:lnTo>
                <a:cubicBezTo>
                  <a:pt x="3375143" y="4774942"/>
                  <a:pt x="3350180" y="4799905"/>
                  <a:pt x="3319386" y="4799905"/>
                </a:cubicBezTo>
                <a:lnTo>
                  <a:pt x="55757" y="4799905"/>
                </a:lnTo>
                <a:cubicBezTo>
                  <a:pt x="24963" y="4799905"/>
                  <a:pt x="0" y="4774942"/>
                  <a:pt x="0" y="4744148"/>
                </a:cubicBezTo>
                <a:lnTo>
                  <a:pt x="0" y="55757"/>
                </a:lnTo>
                <a:cubicBezTo>
                  <a:pt x="0" y="24963"/>
                  <a:pt x="24963" y="0"/>
                  <a:pt x="5575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6_1">
    <p:spTree>
      <p:nvGrpSpPr>
        <p:cNvPr id="1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9" name="Google Shape;2539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0" name="Google Shape;2540;p17"/>
          <p:cNvSpPr txBox="1">
            <a:spLocks noGrp="1"/>
          </p:cNvSpPr>
          <p:nvPr>
            <p:ph type="subTitle" idx="1"/>
          </p:nvPr>
        </p:nvSpPr>
        <p:spPr>
          <a:xfrm>
            <a:off x="4259467" y="2958445"/>
            <a:ext cx="3679200" cy="54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665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sp>
        <p:nvSpPr>
          <p:cNvPr id="2541" name="Google Shape;2541;p17"/>
          <p:cNvSpPr txBox="1">
            <a:spLocks noGrp="1"/>
          </p:cNvSpPr>
          <p:nvPr>
            <p:ph type="subTitle" idx="2"/>
          </p:nvPr>
        </p:nvSpPr>
        <p:spPr>
          <a:xfrm>
            <a:off x="7554675" y="2958445"/>
            <a:ext cx="3679200" cy="54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665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sp>
        <p:nvSpPr>
          <p:cNvPr id="2542" name="Google Shape;2542;p17"/>
          <p:cNvSpPr txBox="1">
            <a:spLocks noGrp="1"/>
          </p:cNvSpPr>
          <p:nvPr>
            <p:ph type="subTitle" idx="3"/>
          </p:nvPr>
        </p:nvSpPr>
        <p:spPr>
          <a:xfrm>
            <a:off x="953167" y="2958445"/>
            <a:ext cx="3679200" cy="54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665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sp>
        <p:nvSpPr>
          <p:cNvPr id="2543" name="Google Shape;2543;p17"/>
          <p:cNvSpPr txBox="1">
            <a:spLocks noGrp="1"/>
          </p:cNvSpPr>
          <p:nvPr>
            <p:ph type="subTitle" idx="4"/>
          </p:nvPr>
        </p:nvSpPr>
        <p:spPr>
          <a:xfrm>
            <a:off x="4428267" y="3553891"/>
            <a:ext cx="3341600" cy="14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latin typeface="Saturday Sans Regular" panose="02010600010101010101" charset="-122"/>
                <a:sym typeface="Saturday Sans Regular" panose="02010600010101010101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sp>
        <p:nvSpPr>
          <p:cNvPr id="2544" name="Google Shape;2544;p17"/>
          <p:cNvSpPr txBox="1">
            <a:spLocks noGrp="1"/>
          </p:cNvSpPr>
          <p:nvPr>
            <p:ph type="subTitle" idx="5"/>
          </p:nvPr>
        </p:nvSpPr>
        <p:spPr>
          <a:xfrm>
            <a:off x="7723475" y="3553891"/>
            <a:ext cx="3341600" cy="14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latin typeface="Saturday Sans Regular" panose="02010600010101010101" charset="-122"/>
                <a:sym typeface="Saturday Sans Regular" panose="02010600010101010101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sp>
        <p:nvSpPr>
          <p:cNvPr id="2545" name="Google Shape;2545;p17"/>
          <p:cNvSpPr txBox="1">
            <a:spLocks noGrp="1"/>
          </p:cNvSpPr>
          <p:nvPr>
            <p:ph type="subTitle" idx="6"/>
          </p:nvPr>
        </p:nvSpPr>
        <p:spPr>
          <a:xfrm>
            <a:off x="1121967" y="3553891"/>
            <a:ext cx="3341600" cy="14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latin typeface="Saturday Sans Regular" panose="02010600010101010101" charset="-122"/>
                <a:sym typeface="Saturday Sans Regular" panose="02010600010101010101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grpSp>
        <p:nvGrpSpPr>
          <p:cNvPr id="2546" name="Google Shape;2546;p17"/>
          <p:cNvGrpSpPr/>
          <p:nvPr/>
        </p:nvGrpSpPr>
        <p:grpSpPr>
          <a:xfrm>
            <a:off x="10694033" y="5956151"/>
            <a:ext cx="2808667" cy="796633"/>
            <a:chOff x="-2810250" y="3572525"/>
            <a:chExt cx="2106500" cy="597475"/>
          </a:xfrm>
        </p:grpSpPr>
        <p:sp>
          <p:nvSpPr>
            <p:cNvPr id="2547" name="Google Shape;2547;p17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48" name="Google Shape;2548;p17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49" name="Google Shape;2549;p17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50" name="Google Shape;2550;p17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51" name="Google Shape;2551;p17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52" name="Google Shape;2552;p17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53" name="Google Shape;2553;p17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54" name="Google Shape;2554;p17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55" name="Google Shape;2555;p17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56" name="Google Shape;2556;p17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57" name="Google Shape;2557;p17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58" name="Google Shape;2558;p17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59" name="Google Shape;2559;p17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60" name="Google Shape;2560;p17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61" name="Google Shape;2561;p17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62" name="Google Shape;2562;p17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63" name="Google Shape;2563;p17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64" name="Google Shape;2564;p17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65" name="Google Shape;2565;p17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66" name="Google Shape;2566;p17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67" name="Google Shape;2567;p17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68" name="Google Shape;2568;p17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69" name="Google Shape;2569;p17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70" name="Google Shape;2570;p17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71" name="Google Shape;2571;p17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72" name="Google Shape;2572;p17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73" name="Google Shape;2573;p17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74" name="Google Shape;2574;p17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75" name="Google Shape;2575;p17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76" name="Google Shape;2576;p17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77" name="Google Shape;2577;p17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78" name="Google Shape;2578;p17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79" name="Google Shape;2579;p17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80" name="Google Shape;2580;p17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81" name="Google Shape;2581;p17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82" name="Google Shape;2582;p17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83" name="Google Shape;2583;p17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84" name="Google Shape;2584;p17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85" name="Google Shape;2585;p17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86" name="Google Shape;2586;p17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87" name="Google Shape;2587;p17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88" name="Google Shape;2588;p17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89" name="Google Shape;2589;p17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90" name="Google Shape;2590;p17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91" name="Google Shape;2591;p17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92" name="Google Shape;2592;p17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93" name="Google Shape;2593;p17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94" name="Google Shape;2594;p17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95" name="Google Shape;2595;p17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96" name="Google Shape;2596;p17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97" name="Google Shape;2597;p17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98" name="Google Shape;2598;p17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99" name="Google Shape;2599;p17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00" name="Google Shape;2600;p17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01" name="Google Shape;2601;p17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02" name="Google Shape;2602;p17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03" name="Google Shape;2603;p17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04" name="Google Shape;2604;p17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05" name="Google Shape;2605;p17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06" name="Google Shape;2606;p17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07" name="Google Shape;2607;p17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08" name="Google Shape;2608;p17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09" name="Google Shape;2609;p17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10" name="Google Shape;2610;p17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11" name="Google Shape;2611;p17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12" name="Google Shape;2612;p17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13" name="Google Shape;2613;p17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14" name="Google Shape;2614;p17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15" name="Google Shape;2615;p17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16" name="Google Shape;2616;p17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17" name="Google Shape;2617;p17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18" name="Google Shape;2618;p17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19" name="Google Shape;2619;p17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20" name="Google Shape;2620;p17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21" name="Google Shape;2621;p17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22" name="Google Shape;2622;p17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23" name="Google Shape;2623;p17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24" name="Google Shape;2624;p17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25" name="Google Shape;2625;p17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26" name="Google Shape;2626;p17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27" name="Google Shape;2627;p17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28" name="Google Shape;2628;p17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29" name="Google Shape;2629;p17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30" name="Google Shape;2630;p17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31" name="Google Shape;2631;p17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32" name="Google Shape;2632;p17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33" name="Google Shape;2633;p17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34" name="Google Shape;2634;p17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35" name="Google Shape;2635;p17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36" name="Google Shape;2636;p17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37" name="Google Shape;2637;p17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38" name="Google Shape;2638;p17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39" name="Google Shape;2639;p17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40" name="Google Shape;2640;p17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41" name="Google Shape;2641;p17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42" name="Google Shape;2642;p17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43" name="Google Shape;2643;p17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44" name="Google Shape;2644;p17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45" name="Google Shape;2645;p17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46" name="Google Shape;2646;p17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47" name="Google Shape;2647;p17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48" name="Google Shape;2648;p17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49" name="Google Shape;2649;p17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50" name="Google Shape;2650;p17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51" name="Google Shape;2651;p17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52" name="Google Shape;2652;p17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53" name="Google Shape;2653;p17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54" name="Google Shape;2654;p17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55" name="Google Shape;2655;p17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56" name="Google Shape;2656;p17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  <p:pic>
        <p:nvPicPr>
          <p:cNvPr id="2657" name="Google Shape;2657;p17"/>
          <p:cNvPicPr preferRelativeResize="0"/>
          <p:nvPr/>
        </p:nvPicPr>
        <p:blipFill>
          <a:blip r:embed="rId3">
            <a:alphaModFix amt="72000"/>
          </a:blip>
          <a:stretch>
            <a:fillRect/>
          </a:stretch>
        </p:blipFill>
        <p:spPr>
          <a:xfrm>
            <a:off x="9494368" y="865425"/>
            <a:ext cx="3493332" cy="620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8" name="Google Shape;2658;p17"/>
          <p:cNvPicPr preferRelativeResize="0"/>
          <p:nvPr/>
        </p:nvPicPr>
        <p:blipFill>
          <a:blip r:embed="rId4">
            <a:alphaModFix amt="81000"/>
          </a:blip>
          <a:stretch>
            <a:fillRect/>
          </a:stretch>
        </p:blipFill>
        <p:spPr>
          <a:xfrm>
            <a:off x="-1391565" y="6044192"/>
            <a:ext cx="3493332" cy="6205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9" name="Google Shape;2659;p17"/>
          <p:cNvGrpSpPr/>
          <p:nvPr/>
        </p:nvGrpSpPr>
        <p:grpSpPr>
          <a:xfrm>
            <a:off x="-706900" y="717717"/>
            <a:ext cx="2808667" cy="796633"/>
            <a:chOff x="-2810250" y="3572525"/>
            <a:chExt cx="2106500" cy="597475"/>
          </a:xfrm>
        </p:grpSpPr>
        <p:sp>
          <p:nvSpPr>
            <p:cNvPr id="2660" name="Google Shape;2660;p17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61" name="Google Shape;2661;p17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62" name="Google Shape;2662;p17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63" name="Google Shape;2663;p17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64" name="Google Shape;2664;p17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65" name="Google Shape;2665;p17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66" name="Google Shape;2666;p17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67" name="Google Shape;2667;p17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68" name="Google Shape;2668;p17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69" name="Google Shape;2669;p17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70" name="Google Shape;2670;p17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71" name="Google Shape;2671;p17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72" name="Google Shape;2672;p17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73" name="Google Shape;2673;p17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74" name="Google Shape;2674;p17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75" name="Google Shape;2675;p17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76" name="Google Shape;2676;p17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77" name="Google Shape;2677;p17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78" name="Google Shape;2678;p17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79" name="Google Shape;2679;p17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80" name="Google Shape;2680;p17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81" name="Google Shape;2681;p17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82" name="Google Shape;2682;p17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83" name="Google Shape;2683;p17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84" name="Google Shape;2684;p17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85" name="Google Shape;2685;p17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86" name="Google Shape;2686;p17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87" name="Google Shape;2687;p17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88" name="Google Shape;2688;p17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89" name="Google Shape;2689;p17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90" name="Google Shape;2690;p17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91" name="Google Shape;2691;p17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92" name="Google Shape;2692;p17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93" name="Google Shape;2693;p17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94" name="Google Shape;2694;p17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95" name="Google Shape;2695;p17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96" name="Google Shape;2696;p17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97" name="Google Shape;2697;p17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98" name="Google Shape;2698;p17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699" name="Google Shape;2699;p17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00" name="Google Shape;2700;p17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01" name="Google Shape;2701;p17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02" name="Google Shape;2702;p17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03" name="Google Shape;2703;p17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04" name="Google Shape;2704;p17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05" name="Google Shape;2705;p17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06" name="Google Shape;2706;p17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07" name="Google Shape;2707;p17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08" name="Google Shape;2708;p17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09" name="Google Shape;2709;p17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10" name="Google Shape;2710;p17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11" name="Google Shape;2711;p17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12" name="Google Shape;2712;p17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13" name="Google Shape;2713;p17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14" name="Google Shape;2714;p17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15" name="Google Shape;2715;p17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16" name="Google Shape;2716;p17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17" name="Google Shape;2717;p17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18" name="Google Shape;2718;p17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19" name="Google Shape;2719;p17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20" name="Google Shape;2720;p17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21" name="Google Shape;2721;p17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22" name="Google Shape;2722;p17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23" name="Google Shape;2723;p17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24" name="Google Shape;2724;p17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25" name="Google Shape;2725;p17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26" name="Google Shape;2726;p17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27" name="Google Shape;2727;p17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28" name="Google Shape;2728;p17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29" name="Google Shape;2729;p17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30" name="Google Shape;2730;p17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31" name="Google Shape;2731;p17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32" name="Google Shape;2732;p17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33" name="Google Shape;2733;p17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34" name="Google Shape;2734;p17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35" name="Google Shape;2735;p17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36" name="Google Shape;2736;p17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37" name="Google Shape;2737;p17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38" name="Google Shape;2738;p17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39" name="Google Shape;2739;p17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40" name="Google Shape;2740;p17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41" name="Google Shape;2741;p17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42" name="Google Shape;2742;p17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43" name="Google Shape;2743;p17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44" name="Google Shape;2744;p17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45" name="Google Shape;2745;p17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46" name="Google Shape;2746;p17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47" name="Google Shape;2747;p17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48" name="Google Shape;2748;p17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49" name="Google Shape;2749;p17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50" name="Google Shape;2750;p17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51" name="Google Shape;2751;p17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52" name="Google Shape;2752;p17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53" name="Google Shape;2753;p17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54" name="Google Shape;2754;p17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55" name="Google Shape;2755;p17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56" name="Google Shape;2756;p17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57" name="Google Shape;2757;p17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58" name="Google Shape;2758;p17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59" name="Google Shape;2759;p17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60" name="Google Shape;2760;p17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61" name="Google Shape;2761;p17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62" name="Google Shape;2762;p17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63" name="Google Shape;2763;p17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64" name="Google Shape;2764;p17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65" name="Google Shape;2765;p17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66" name="Google Shape;2766;p17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67" name="Google Shape;2767;p17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68" name="Google Shape;2768;p17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769" name="Google Shape;2769;p17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  <p:sp>
        <p:nvSpPr>
          <p:cNvPr id="2770" name="Google Shape;2770;p17"/>
          <p:cNvSpPr txBox="1">
            <a:spLocks noGrp="1"/>
          </p:cNvSpPr>
          <p:nvPr>
            <p:ph type="title"/>
          </p:nvPr>
        </p:nvSpPr>
        <p:spPr>
          <a:xfrm>
            <a:off x="955400" y="874100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5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ONE_COLUMN_TEXT_1_1">
    <p:spTree>
      <p:nvGrpSpPr>
        <p:cNvPr id="1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7" name="Google Shape;2127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15"/>
          <p:cNvSpPr txBox="1">
            <a:spLocks noGrp="1"/>
          </p:cNvSpPr>
          <p:nvPr>
            <p:ph type="title"/>
          </p:nvPr>
        </p:nvSpPr>
        <p:spPr>
          <a:xfrm>
            <a:off x="774552" y="1674017"/>
            <a:ext cx="5864400" cy="23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129" name="Google Shape;2129;p15"/>
          <p:cNvSpPr txBox="1">
            <a:spLocks noGrp="1"/>
          </p:cNvSpPr>
          <p:nvPr>
            <p:ph type="body" idx="1"/>
          </p:nvPr>
        </p:nvSpPr>
        <p:spPr>
          <a:xfrm>
            <a:off x="1239552" y="4264784"/>
            <a:ext cx="4934400" cy="12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06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35">
                <a:latin typeface="Saturday Sans Regular" panose="02010600010101010101" charset="-122"/>
                <a:sym typeface="Saturday Sans Regular" panose="02010600010101010101" charset="-122"/>
              </a:defRPr>
            </a:lvl1pPr>
            <a:lvl2pPr marL="1219200" lvl="1" indent="-406400" rtl="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 rtl="0">
              <a:spcBef>
                <a:spcPct val="42700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400" lvl="3" indent="-406400" rtl="0">
              <a:spcBef>
                <a:spcPct val="42700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000" lvl="4" indent="-406400" rtl="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600" lvl="5" indent="-406400" rtl="0">
              <a:spcBef>
                <a:spcPct val="42700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200" lvl="6" indent="-406400" rtl="0">
              <a:spcBef>
                <a:spcPct val="42700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 rtl="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 rtl="0">
              <a:spcBef>
                <a:spcPct val="427000"/>
              </a:spcBef>
              <a:spcAft>
                <a:spcPts val="1600"/>
              </a:spcAft>
              <a:buSzPts val="1200"/>
              <a:buChar char="■"/>
              <a:defRPr sz="1600"/>
            </a:lvl9pPr>
          </a:lstStyle>
          <a:p/>
        </p:txBody>
      </p:sp>
      <p:grpSp>
        <p:nvGrpSpPr>
          <p:cNvPr id="2130" name="Google Shape;2130;p15"/>
          <p:cNvGrpSpPr/>
          <p:nvPr/>
        </p:nvGrpSpPr>
        <p:grpSpPr>
          <a:xfrm>
            <a:off x="-1037800" y="802100"/>
            <a:ext cx="2808667" cy="796633"/>
            <a:chOff x="-2810250" y="3572525"/>
            <a:chExt cx="2106500" cy="597475"/>
          </a:xfrm>
        </p:grpSpPr>
        <p:sp>
          <p:nvSpPr>
            <p:cNvPr id="2131" name="Google Shape;2131;p15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32" name="Google Shape;2132;p15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33" name="Google Shape;2133;p15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34" name="Google Shape;2134;p15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35" name="Google Shape;2135;p15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36" name="Google Shape;2136;p15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37" name="Google Shape;2137;p15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38" name="Google Shape;2138;p15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39" name="Google Shape;2139;p15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40" name="Google Shape;2140;p15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41" name="Google Shape;2141;p15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42" name="Google Shape;2142;p15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43" name="Google Shape;2143;p15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44" name="Google Shape;2144;p15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45" name="Google Shape;2145;p15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46" name="Google Shape;2146;p15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47" name="Google Shape;2147;p15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48" name="Google Shape;2148;p15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49" name="Google Shape;2149;p15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50" name="Google Shape;2150;p15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51" name="Google Shape;2151;p15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52" name="Google Shape;2152;p15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53" name="Google Shape;2153;p15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54" name="Google Shape;2154;p15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55" name="Google Shape;2155;p15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56" name="Google Shape;2156;p15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57" name="Google Shape;2157;p15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58" name="Google Shape;2158;p15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59" name="Google Shape;2159;p15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60" name="Google Shape;2160;p15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61" name="Google Shape;2161;p15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62" name="Google Shape;2162;p15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63" name="Google Shape;2163;p15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64" name="Google Shape;2164;p15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65" name="Google Shape;2165;p15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66" name="Google Shape;2166;p15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67" name="Google Shape;2167;p15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68" name="Google Shape;2168;p15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69" name="Google Shape;2169;p15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70" name="Google Shape;2170;p15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71" name="Google Shape;2171;p15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72" name="Google Shape;2172;p15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73" name="Google Shape;2173;p15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74" name="Google Shape;2174;p15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75" name="Google Shape;2175;p15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76" name="Google Shape;2176;p15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77" name="Google Shape;2177;p15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78" name="Google Shape;2178;p15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79" name="Google Shape;2179;p15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80" name="Google Shape;2180;p15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81" name="Google Shape;2181;p15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82" name="Google Shape;2182;p15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83" name="Google Shape;2183;p15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84" name="Google Shape;2184;p15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85" name="Google Shape;2185;p15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86" name="Google Shape;2186;p15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87" name="Google Shape;2187;p15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88" name="Google Shape;2188;p15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89" name="Google Shape;2189;p15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90" name="Google Shape;2190;p15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91" name="Google Shape;2191;p15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92" name="Google Shape;2192;p15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93" name="Google Shape;2193;p15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94" name="Google Shape;2194;p15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95" name="Google Shape;2195;p15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96" name="Google Shape;2196;p15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97" name="Google Shape;2197;p15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98" name="Google Shape;2198;p15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199" name="Google Shape;2199;p15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00" name="Google Shape;2200;p15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01" name="Google Shape;2201;p15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02" name="Google Shape;2202;p15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03" name="Google Shape;2203;p15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04" name="Google Shape;2204;p15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05" name="Google Shape;2205;p15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06" name="Google Shape;2206;p15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07" name="Google Shape;2207;p15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08" name="Google Shape;2208;p15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09" name="Google Shape;2209;p15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10" name="Google Shape;2210;p15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11" name="Google Shape;2211;p15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12" name="Google Shape;2212;p15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13" name="Google Shape;2213;p15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14" name="Google Shape;2214;p15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15" name="Google Shape;2215;p15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16" name="Google Shape;2216;p15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17" name="Google Shape;2217;p15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18" name="Google Shape;2218;p15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19" name="Google Shape;2219;p15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20" name="Google Shape;2220;p15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21" name="Google Shape;2221;p15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22" name="Google Shape;2222;p15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23" name="Google Shape;2223;p15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24" name="Google Shape;2224;p15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25" name="Google Shape;2225;p15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26" name="Google Shape;2226;p15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27" name="Google Shape;2227;p15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28" name="Google Shape;2228;p15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29" name="Google Shape;2229;p15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30" name="Google Shape;2230;p15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31" name="Google Shape;2231;p15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32" name="Google Shape;2232;p15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33" name="Google Shape;2233;p15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34" name="Google Shape;2234;p15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35" name="Google Shape;2235;p15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36" name="Google Shape;2236;p15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37" name="Google Shape;2237;p15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38" name="Google Shape;2238;p15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39" name="Google Shape;2239;p15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40" name="Google Shape;2240;p15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  <p:grpSp>
        <p:nvGrpSpPr>
          <p:cNvPr id="2241" name="Google Shape;2241;p15"/>
          <p:cNvGrpSpPr/>
          <p:nvPr/>
        </p:nvGrpSpPr>
        <p:grpSpPr>
          <a:xfrm>
            <a:off x="10009333" y="6162700"/>
            <a:ext cx="2182667" cy="695300"/>
            <a:chOff x="-4380075" y="3780200"/>
            <a:chExt cx="1637000" cy="521475"/>
          </a:xfrm>
        </p:grpSpPr>
        <p:sp>
          <p:nvSpPr>
            <p:cNvPr id="2242" name="Google Shape;2242;p15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43" name="Google Shape;2243;p15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44" name="Google Shape;2244;p15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45" name="Google Shape;2245;p15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46" name="Google Shape;2246;p15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47" name="Google Shape;2247;p15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48" name="Google Shape;2248;p15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49" name="Google Shape;2249;p15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50" name="Google Shape;2250;p15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51" name="Google Shape;2251;p15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52" name="Google Shape;2252;p15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53" name="Google Shape;2253;p15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54" name="Google Shape;2254;p15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55" name="Google Shape;2255;p15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56" name="Google Shape;2256;p15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57" name="Google Shape;2257;p15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58" name="Google Shape;2258;p15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59" name="Google Shape;2259;p15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60" name="Google Shape;2260;p15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61" name="Google Shape;2261;p15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62" name="Google Shape;2262;p15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63" name="Google Shape;2263;p15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64" name="Google Shape;2264;p15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65" name="Google Shape;2265;p15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66" name="Google Shape;2266;p15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67" name="Google Shape;2267;p15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68" name="Google Shape;2268;p15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69" name="Google Shape;2269;p15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70" name="Google Shape;2270;p15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71" name="Google Shape;2271;p15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72" name="Google Shape;2272;p15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73" name="Google Shape;2273;p15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74" name="Google Shape;2274;p15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75" name="Google Shape;2275;p15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76" name="Google Shape;2276;p15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77" name="Google Shape;2277;p15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78" name="Google Shape;2278;p15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79" name="Google Shape;2279;p15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80" name="Google Shape;2280;p15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81" name="Google Shape;2281;p15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82" name="Google Shape;2282;p15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83" name="Google Shape;2283;p15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84" name="Google Shape;2284;p15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85" name="Google Shape;2285;p15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86" name="Google Shape;2286;p15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87" name="Google Shape;2287;p15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88" name="Google Shape;2288;p15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96" name="Google Shape;2296;p15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97" name="Google Shape;2297;p15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98" name="Google Shape;2298;p15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299" name="Google Shape;2299;p15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00" name="Google Shape;2300;p15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01" name="Google Shape;2301;p15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02" name="Google Shape;2302;p15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03" name="Google Shape;2303;p15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04" name="Google Shape;2304;p15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05" name="Google Shape;2305;p15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06" name="Google Shape;2306;p15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07" name="Google Shape;2307;p15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08" name="Google Shape;2308;p15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6">
    <p:spTree>
      <p:nvGrpSpPr>
        <p:cNvPr id="1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1" name="Google Shape;2311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2" name="Google Shape;2312;p16"/>
          <p:cNvSpPr txBox="1">
            <a:spLocks noGrp="1"/>
          </p:cNvSpPr>
          <p:nvPr>
            <p:ph type="subTitle" idx="1"/>
          </p:nvPr>
        </p:nvSpPr>
        <p:spPr>
          <a:xfrm>
            <a:off x="1732348" y="2303849"/>
            <a:ext cx="8715600" cy="16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465">
                <a:latin typeface="Saturday Sans Regular" panose="02010600010101010101" charset="-122"/>
                <a:sym typeface="Saturday Sans Regular" panose="02010600010101010101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2313" name="Google Shape;2313;p16"/>
          <p:cNvSpPr txBox="1">
            <a:spLocks noGrp="1"/>
          </p:cNvSpPr>
          <p:nvPr>
            <p:ph type="ctrTitle"/>
          </p:nvPr>
        </p:nvSpPr>
        <p:spPr>
          <a:xfrm>
            <a:off x="6681233" y="4143116"/>
            <a:ext cx="37668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266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9pPr>
          </a:lstStyle>
          <a:p/>
        </p:txBody>
      </p:sp>
      <p:grpSp>
        <p:nvGrpSpPr>
          <p:cNvPr id="2314" name="Google Shape;2314;p16"/>
          <p:cNvGrpSpPr/>
          <p:nvPr/>
        </p:nvGrpSpPr>
        <p:grpSpPr>
          <a:xfrm>
            <a:off x="0" y="6138000"/>
            <a:ext cx="2808667" cy="796633"/>
            <a:chOff x="-2810250" y="3572525"/>
            <a:chExt cx="2106500" cy="597475"/>
          </a:xfrm>
        </p:grpSpPr>
        <p:sp>
          <p:nvSpPr>
            <p:cNvPr id="2315" name="Google Shape;2315;p16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16" name="Google Shape;2316;p16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17" name="Google Shape;2317;p16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18" name="Google Shape;2318;p16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19" name="Google Shape;2319;p16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20" name="Google Shape;2320;p16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21" name="Google Shape;2321;p16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22" name="Google Shape;2322;p16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23" name="Google Shape;2323;p16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24" name="Google Shape;2324;p16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25" name="Google Shape;2325;p16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26" name="Google Shape;2326;p16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27" name="Google Shape;2327;p16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28" name="Google Shape;2328;p16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29" name="Google Shape;2329;p16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30" name="Google Shape;2330;p16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31" name="Google Shape;2331;p16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32" name="Google Shape;2332;p16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33" name="Google Shape;2333;p16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34" name="Google Shape;2334;p16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35" name="Google Shape;2335;p16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36" name="Google Shape;2336;p16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37" name="Google Shape;2337;p16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38" name="Google Shape;2338;p16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39" name="Google Shape;2339;p16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40" name="Google Shape;2340;p16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41" name="Google Shape;2341;p16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42" name="Google Shape;2342;p16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43" name="Google Shape;2343;p16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44" name="Google Shape;2344;p16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45" name="Google Shape;2345;p16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46" name="Google Shape;2346;p16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47" name="Google Shape;2347;p16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48" name="Google Shape;2348;p16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49" name="Google Shape;2349;p16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50" name="Google Shape;2350;p16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51" name="Google Shape;2351;p16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52" name="Google Shape;2352;p16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53" name="Google Shape;2353;p16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54" name="Google Shape;2354;p16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55" name="Google Shape;2355;p16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56" name="Google Shape;2356;p16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57" name="Google Shape;2357;p16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58" name="Google Shape;2358;p16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59" name="Google Shape;2359;p16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60" name="Google Shape;2360;p16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61" name="Google Shape;2361;p16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62" name="Google Shape;2362;p16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63" name="Google Shape;2363;p16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64" name="Google Shape;2364;p16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65" name="Google Shape;2365;p16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66" name="Google Shape;2366;p16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67" name="Google Shape;2367;p16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68" name="Google Shape;2368;p16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69" name="Google Shape;2369;p16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70" name="Google Shape;2370;p16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71" name="Google Shape;2371;p16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72" name="Google Shape;2372;p16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73" name="Google Shape;2373;p16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74" name="Google Shape;2374;p16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75" name="Google Shape;2375;p16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76" name="Google Shape;2376;p16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77" name="Google Shape;2377;p16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78" name="Google Shape;2378;p16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79" name="Google Shape;2379;p16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80" name="Google Shape;2380;p16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81" name="Google Shape;2381;p16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82" name="Google Shape;2382;p16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83" name="Google Shape;2383;p16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84" name="Google Shape;2384;p16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85" name="Google Shape;2385;p16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86" name="Google Shape;2386;p16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87" name="Google Shape;2387;p16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88" name="Google Shape;2388;p16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89" name="Google Shape;2389;p16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90" name="Google Shape;2390;p16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91" name="Google Shape;2391;p16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92" name="Google Shape;2392;p16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93" name="Google Shape;2393;p16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94" name="Google Shape;2394;p16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95" name="Google Shape;2395;p16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96" name="Google Shape;2396;p16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97" name="Google Shape;2397;p16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98" name="Google Shape;2398;p16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399" name="Google Shape;2399;p16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00" name="Google Shape;2400;p16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01" name="Google Shape;2401;p16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02" name="Google Shape;2402;p16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03" name="Google Shape;2403;p16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04" name="Google Shape;2404;p16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05" name="Google Shape;2405;p16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06" name="Google Shape;2406;p16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07" name="Google Shape;2407;p16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08" name="Google Shape;2408;p16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09" name="Google Shape;2409;p16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10" name="Google Shape;2410;p16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11" name="Google Shape;2411;p16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12" name="Google Shape;2412;p16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13" name="Google Shape;2413;p16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14" name="Google Shape;2414;p16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15" name="Google Shape;2415;p16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16" name="Google Shape;2416;p16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17" name="Google Shape;2417;p16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18" name="Google Shape;2418;p16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19" name="Google Shape;2419;p16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20" name="Google Shape;2420;p16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21" name="Google Shape;2421;p16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22" name="Google Shape;2422;p16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23" name="Google Shape;2423;p16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24" name="Google Shape;2424;p16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  <p:grpSp>
        <p:nvGrpSpPr>
          <p:cNvPr id="2425" name="Google Shape;2425;p16"/>
          <p:cNvGrpSpPr/>
          <p:nvPr/>
        </p:nvGrpSpPr>
        <p:grpSpPr>
          <a:xfrm flipH="1">
            <a:off x="10261600" y="734133"/>
            <a:ext cx="2808667" cy="796633"/>
            <a:chOff x="-2810250" y="3572525"/>
            <a:chExt cx="2106500" cy="597475"/>
          </a:xfrm>
        </p:grpSpPr>
        <p:sp>
          <p:nvSpPr>
            <p:cNvPr id="2426" name="Google Shape;2426;p16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27" name="Google Shape;2427;p16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28" name="Google Shape;2428;p16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29" name="Google Shape;2429;p16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30" name="Google Shape;2430;p16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31" name="Google Shape;2431;p16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32" name="Google Shape;2432;p16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33" name="Google Shape;2433;p16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34" name="Google Shape;2434;p16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35" name="Google Shape;2435;p16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36" name="Google Shape;2436;p16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37" name="Google Shape;2437;p16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38" name="Google Shape;2438;p16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39" name="Google Shape;2439;p16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40" name="Google Shape;2440;p16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41" name="Google Shape;2441;p16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42" name="Google Shape;2442;p16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43" name="Google Shape;2443;p16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44" name="Google Shape;2444;p16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45" name="Google Shape;2445;p16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46" name="Google Shape;2446;p16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47" name="Google Shape;2447;p16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48" name="Google Shape;2448;p16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49" name="Google Shape;2449;p16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50" name="Google Shape;2450;p16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51" name="Google Shape;2451;p16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52" name="Google Shape;2452;p16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53" name="Google Shape;2453;p16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54" name="Google Shape;2454;p16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55" name="Google Shape;2455;p16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56" name="Google Shape;2456;p16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57" name="Google Shape;2457;p16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58" name="Google Shape;2458;p16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59" name="Google Shape;2459;p16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60" name="Google Shape;2460;p16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61" name="Google Shape;2461;p16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62" name="Google Shape;2462;p16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63" name="Google Shape;2463;p16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64" name="Google Shape;2464;p16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65" name="Google Shape;2465;p16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66" name="Google Shape;2466;p16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67" name="Google Shape;2467;p16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68" name="Google Shape;2468;p16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69" name="Google Shape;2469;p16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70" name="Google Shape;2470;p16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71" name="Google Shape;2471;p16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72" name="Google Shape;2472;p16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73" name="Google Shape;2473;p16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74" name="Google Shape;2474;p16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75" name="Google Shape;2475;p16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76" name="Google Shape;2476;p16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77" name="Google Shape;2477;p16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78" name="Google Shape;2478;p16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79" name="Google Shape;2479;p16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80" name="Google Shape;2480;p16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81" name="Google Shape;2481;p16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82" name="Google Shape;2482;p16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83" name="Google Shape;2483;p16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84" name="Google Shape;2484;p16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85" name="Google Shape;2485;p16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86" name="Google Shape;2486;p16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87" name="Google Shape;2487;p16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88" name="Google Shape;2488;p16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89" name="Google Shape;2489;p16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90" name="Google Shape;2490;p16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91" name="Google Shape;2491;p16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92" name="Google Shape;2492;p16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93" name="Google Shape;2493;p16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94" name="Google Shape;2494;p16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95" name="Google Shape;2495;p16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96" name="Google Shape;2496;p16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97" name="Google Shape;2497;p16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98" name="Google Shape;2498;p16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499" name="Google Shape;2499;p16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00" name="Google Shape;2500;p16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01" name="Google Shape;2501;p16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02" name="Google Shape;2502;p16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03" name="Google Shape;2503;p16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04" name="Google Shape;2504;p16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05" name="Google Shape;2505;p16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06" name="Google Shape;2506;p16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07" name="Google Shape;2507;p16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08" name="Google Shape;2508;p16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09" name="Google Shape;2509;p16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10" name="Google Shape;2510;p16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11" name="Google Shape;2511;p16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12" name="Google Shape;2512;p16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13" name="Google Shape;2513;p16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14" name="Google Shape;2514;p16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15" name="Google Shape;2515;p16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16" name="Google Shape;2516;p16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17" name="Google Shape;2517;p16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18" name="Google Shape;2518;p16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19" name="Google Shape;2519;p16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20" name="Google Shape;2520;p16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21" name="Google Shape;2521;p16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22" name="Google Shape;2522;p16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23" name="Google Shape;2523;p16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24" name="Google Shape;2524;p16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25" name="Google Shape;2525;p16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26" name="Google Shape;2526;p16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27" name="Google Shape;2527;p16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28" name="Google Shape;2528;p16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29" name="Google Shape;2529;p16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30" name="Google Shape;2530;p16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31" name="Google Shape;2531;p16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32" name="Google Shape;2532;p16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33" name="Google Shape;2533;p16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34" name="Google Shape;2534;p16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2535" name="Google Shape;2535;p16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  <p:pic>
        <p:nvPicPr>
          <p:cNvPr id="2536" name="Google Shape;2536;p16"/>
          <p:cNvPicPr preferRelativeResize="0"/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 rot="-2976215">
            <a:off x="9178495" y="5085120"/>
            <a:ext cx="3685200" cy="2416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7" name="Google Shape;2537;p16"/>
          <p:cNvPicPr preferRelativeResize="0"/>
          <p:nvPr/>
        </p:nvPicPr>
        <p:blipFill>
          <a:blip r:embed="rId4">
            <a:alphaModFix amt="66000"/>
          </a:blip>
          <a:stretch>
            <a:fillRect/>
          </a:stretch>
        </p:blipFill>
        <p:spPr>
          <a:xfrm rot="3667399">
            <a:off x="-215424" y="-1933705"/>
            <a:ext cx="2616717" cy="4958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0" name="Google Shape;690;p6"/>
          <p:cNvGrpSpPr/>
          <p:nvPr/>
        </p:nvGrpSpPr>
        <p:grpSpPr>
          <a:xfrm>
            <a:off x="-1580183" y="1121233"/>
            <a:ext cx="2808667" cy="796633"/>
            <a:chOff x="-2810250" y="3572525"/>
            <a:chExt cx="2106500" cy="597475"/>
          </a:xfrm>
        </p:grpSpPr>
        <p:sp>
          <p:nvSpPr>
            <p:cNvPr id="691" name="Google Shape;691;p6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42" name="Google Shape;742;p6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44" name="Google Shape;744;p6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45" name="Google Shape;745;p6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46" name="Google Shape;746;p6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47" name="Google Shape;747;p6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48" name="Google Shape;748;p6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50" name="Google Shape;750;p6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51" name="Google Shape;751;p6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52" name="Google Shape;752;p6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53" name="Google Shape;753;p6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55" name="Google Shape;755;p6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56" name="Google Shape;756;p6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57" name="Google Shape;757;p6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58" name="Google Shape;758;p6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59" name="Google Shape;759;p6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60" name="Google Shape;760;p6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61" name="Google Shape;761;p6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62" name="Google Shape;762;p6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63" name="Google Shape;763;p6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64" name="Google Shape;764;p6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65" name="Google Shape;765;p6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66" name="Google Shape;766;p6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67" name="Google Shape;767;p6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68" name="Google Shape;768;p6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69" name="Google Shape;769;p6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70" name="Google Shape;770;p6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71" name="Google Shape;771;p6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73" name="Google Shape;773;p6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74" name="Google Shape;774;p6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78" name="Google Shape;778;p6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79" name="Google Shape;779;p6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80" name="Google Shape;780;p6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82" name="Google Shape;782;p6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83" name="Google Shape;783;p6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84" name="Google Shape;784;p6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85" name="Google Shape;785;p6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86" name="Google Shape;786;p6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87" name="Google Shape;787;p6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88" name="Google Shape;788;p6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89" name="Google Shape;789;p6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90" name="Google Shape;790;p6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91" name="Google Shape;791;p6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92" name="Google Shape;792;p6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93" name="Google Shape;793;p6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94" name="Google Shape;794;p6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95" name="Google Shape;795;p6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96" name="Google Shape;796;p6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97" name="Google Shape;797;p6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98" name="Google Shape;798;p6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799" name="Google Shape;799;p6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00" name="Google Shape;800;p6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rgbClr val="FFCF60">
                <a:alpha val="35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  <p:grpSp>
        <p:nvGrpSpPr>
          <p:cNvPr id="801" name="Google Shape;801;p6"/>
          <p:cNvGrpSpPr/>
          <p:nvPr/>
        </p:nvGrpSpPr>
        <p:grpSpPr>
          <a:xfrm>
            <a:off x="10318651" y="5984333"/>
            <a:ext cx="2182667" cy="695300"/>
            <a:chOff x="-4380075" y="3780200"/>
            <a:chExt cx="1637000" cy="521475"/>
          </a:xfrm>
        </p:grpSpPr>
        <p:sp>
          <p:nvSpPr>
            <p:cNvPr id="802" name="Google Shape;802;p6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03" name="Google Shape;803;p6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04" name="Google Shape;804;p6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05" name="Google Shape;805;p6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07" name="Google Shape;807;p6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08" name="Google Shape;808;p6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12" name="Google Shape;812;p6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13" name="Google Shape;813;p6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14" name="Google Shape;814;p6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15" name="Google Shape;815;p6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16" name="Google Shape;816;p6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18" name="Google Shape;818;p6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19" name="Google Shape;819;p6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24" name="Google Shape;824;p6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25" name="Google Shape;825;p6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26" name="Google Shape;826;p6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27" name="Google Shape;827;p6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28" name="Google Shape;828;p6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29" name="Google Shape;829;p6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30" name="Google Shape;830;p6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31" name="Google Shape;831;p6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32" name="Google Shape;832;p6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33" name="Google Shape;833;p6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34" name="Google Shape;834;p6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35" name="Google Shape;835;p6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36" name="Google Shape;836;p6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37" name="Google Shape;837;p6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38" name="Google Shape;838;p6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39" name="Google Shape;839;p6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40" name="Google Shape;840;p6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41" name="Google Shape;841;p6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42" name="Google Shape;842;p6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43" name="Google Shape;843;p6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44" name="Google Shape;844;p6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45" name="Google Shape;845;p6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46" name="Google Shape;846;p6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47" name="Google Shape;847;p6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48" name="Google Shape;848;p6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49" name="Google Shape;849;p6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50" name="Google Shape;850;p6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51" name="Google Shape;851;p6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52" name="Google Shape;852;p6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53" name="Google Shape;853;p6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54" name="Google Shape;854;p6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55" name="Google Shape;855;p6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57" name="Google Shape;857;p6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58" name="Google Shape;858;p6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61" name="Google Shape;861;p6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62" name="Google Shape;862;p6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63" name="Google Shape;863;p6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64" name="Google Shape;864;p6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65" name="Google Shape;865;p6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66" name="Google Shape;866;p6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67" name="Google Shape;867;p6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68" name="Google Shape;868;p6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869" name="Google Shape;869;p6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  <p:pic>
        <p:nvPicPr>
          <p:cNvPr id="870" name="Google Shape;870;p6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9827548" y="442384"/>
            <a:ext cx="4724400" cy="9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6"/>
          <p:cNvPicPr preferRelativeResize="0"/>
          <p:nvPr/>
        </p:nvPicPr>
        <p:blipFill rotWithShape="1">
          <a:blip r:embed="rId4">
            <a:alphaModFix amt="58000"/>
          </a:blip>
          <a:srcRect l="6060" r="-6059"/>
          <a:stretch>
            <a:fillRect/>
          </a:stretch>
        </p:blipFill>
        <p:spPr>
          <a:xfrm>
            <a:off x="-1396500" y="6182149"/>
            <a:ext cx="5057368" cy="8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6"/>
          <p:cNvSpPr txBox="1">
            <a:spLocks noGrp="1"/>
          </p:cNvSpPr>
          <p:nvPr>
            <p:ph type="title"/>
          </p:nvPr>
        </p:nvSpPr>
        <p:spPr>
          <a:xfrm>
            <a:off x="955400" y="874100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5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9">
    <p:spTree>
      <p:nvGrpSpPr>
        <p:cNvPr id="1" name="Shape 6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6" name="Google Shape;6136;p3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7" name="Google Shape;6137;p34"/>
          <p:cNvSpPr txBox="1">
            <a:spLocks noGrp="1"/>
          </p:cNvSpPr>
          <p:nvPr>
            <p:ph type="subTitle" idx="1"/>
          </p:nvPr>
        </p:nvSpPr>
        <p:spPr>
          <a:xfrm>
            <a:off x="4528919" y="4205300"/>
            <a:ext cx="5142800" cy="17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>
                <a:latin typeface="Saturday Sans Regular" panose="02010600010101010101" charset="-122"/>
                <a:sym typeface="Saturday Sans Regular" panose="02010600010101010101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sp>
        <p:nvSpPr>
          <p:cNvPr id="6138" name="Google Shape;6138;p34"/>
          <p:cNvSpPr txBox="1">
            <a:spLocks noGrp="1"/>
          </p:cNvSpPr>
          <p:nvPr>
            <p:ph type="title"/>
          </p:nvPr>
        </p:nvSpPr>
        <p:spPr>
          <a:xfrm>
            <a:off x="953167" y="862200"/>
            <a:ext cx="10285600" cy="7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5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139" name="Google Shape;6139;p34"/>
          <p:cNvGrpSpPr/>
          <p:nvPr/>
        </p:nvGrpSpPr>
        <p:grpSpPr>
          <a:xfrm>
            <a:off x="-1256567" y="862084"/>
            <a:ext cx="2808667" cy="796633"/>
            <a:chOff x="-2810250" y="3572525"/>
            <a:chExt cx="2106500" cy="597475"/>
          </a:xfrm>
        </p:grpSpPr>
        <p:sp>
          <p:nvSpPr>
            <p:cNvPr id="6140" name="Google Shape;6140;p34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41" name="Google Shape;6141;p34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42" name="Google Shape;6142;p34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43" name="Google Shape;6143;p34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44" name="Google Shape;6144;p34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45" name="Google Shape;6145;p34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46" name="Google Shape;6146;p34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47" name="Google Shape;6147;p34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48" name="Google Shape;6148;p34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49" name="Google Shape;6149;p34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50" name="Google Shape;6150;p34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51" name="Google Shape;6151;p34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52" name="Google Shape;6152;p34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53" name="Google Shape;6153;p34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54" name="Google Shape;6154;p34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55" name="Google Shape;6155;p34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56" name="Google Shape;6156;p34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57" name="Google Shape;6157;p34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58" name="Google Shape;6158;p34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59" name="Google Shape;6159;p34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60" name="Google Shape;6160;p34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61" name="Google Shape;6161;p34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62" name="Google Shape;6162;p34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63" name="Google Shape;6163;p34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64" name="Google Shape;6164;p34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65" name="Google Shape;6165;p34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66" name="Google Shape;6166;p34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67" name="Google Shape;6167;p34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68" name="Google Shape;6168;p34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69" name="Google Shape;6169;p34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70" name="Google Shape;6170;p34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71" name="Google Shape;6171;p34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72" name="Google Shape;6172;p34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73" name="Google Shape;6173;p34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74" name="Google Shape;6174;p34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75" name="Google Shape;6175;p34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76" name="Google Shape;6176;p34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77" name="Google Shape;6177;p34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78" name="Google Shape;6178;p34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79" name="Google Shape;6179;p34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80" name="Google Shape;6180;p34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81" name="Google Shape;6181;p34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82" name="Google Shape;6182;p34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83" name="Google Shape;6183;p34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84" name="Google Shape;6184;p34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85" name="Google Shape;6185;p34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86" name="Google Shape;6186;p34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87" name="Google Shape;6187;p34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88" name="Google Shape;6188;p34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89" name="Google Shape;6189;p34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90" name="Google Shape;6190;p34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91" name="Google Shape;6191;p34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92" name="Google Shape;6192;p34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93" name="Google Shape;6193;p34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94" name="Google Shape;6194;p34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95" name="Google Shape;6195;p34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96" name="Google Shape;6196;p34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97" name="Google Shape;6197;p34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98" name="Google Shape;6198;p34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199" name="Google Shape;6199;p34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00" name="Google Shape;6200;p34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01" name="Google Shape;6201;p34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02" name="Google Shape;6202;p34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03" name="Google Shape;6203;p34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04" name="Google Shape;6204;p34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05" name="Google Shape;6205;p34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06" name="Google Shape;6206;p34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07" name="Google Shape;6207;p34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08" name="Google Shape;6208;p34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09" name="Google Shape;6209;p34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10" name="Google Shape;6210;p34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11" name="Google Shape;6211;p34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12" name="Google Shape;6212;p34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13" name="Google Shape;6213;p34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14" name="Google Shape;6214;p34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15" name="Google Shape;6215;p34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16" name="Google Shape;6216;p34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17" name="Google Shape;6217;p34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18" name="Google Shape;6218;p34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19" name="Google Shape;6219;p34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20" name="Google Shape;6220;p34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21" name="Google Shape;6221;p34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22" name="Google Shape;6222;p34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23" name="Google Shape;6223;p34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24" name="Google Shape;6224;p34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25" name="Google Shape;6225;p34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26" name="Google Shape;6226;p34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27" name="Google Shape;6227;p34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28" name="Google Shape;6228;p34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29" name="Google Shape;6229;p34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30" name="Google Shape;6230;p34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31" name="Google Shape;6231;p34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32" name="Google Shape;6232;p34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33" name="Google Shape;6233;p34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34" name="Google Shape;6234;p34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35" name="Google Shape;6235;p34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36" name="Google Shape;6236;p34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37" name="Google Shape;6237;p34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38" name="Google Shape;6238;p34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39" name="Google Shape;6239;p34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40" name="Google Shape;6240;p34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41" name="Google Shape;6241;p34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42" name="Google Shape;6242;p34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43" name="Google Shape;6243;p34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44" name="Google Shape;6244;p34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45" name="Google Shape;6245;p34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46" name="Google Shape;6246;p34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47" name="Google Shape;6247;p34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48" name="Google Shape;6248;p34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49" name="Google Shape;6249;p34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rgbClr val="FF7884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  <p:grpSp>
        <p:nvGrpSpPr>
          <p:cNvPr id="6250" name="Google Shape;6250;p34"/>
          <p:cNvGrpSpPr/>
          <p:nvPr/>
        </p:nvGrpSpPr>
        <p:grpSpPr>
          <a:xfrm>
            <a:off x="10850400" y="5984333"/>
            <a:ext cx="2182667" cy="695300"/>
            <a:chOff x="-4380075" y="3780200"/>
            <a:chExt cx="1637000" cy="521475"/>
          </a:xfrm>
        </p:grpSpPr>
        <p:sp>
          <p:nvSpPr>
            <p:cNvPr id="6251" name="Google Shape;6251;p34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52" name="Google Shape;6252;p34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53" name="Google Shape;6253;p34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54" name="Google Shape;6254;p34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55" name="Google Shape;6255;p34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56" name="Google Shape;6256;p34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57" name="Google Shape;6257;p34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58" name="Google Shape;6258;p34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59" name="Google Shape;6259;p34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60" name="Google Shape;6260;p34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61" name="Google Shape;6261;p34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62" name="Google Shape;6262;p34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63" name="Google Shape;6263;p34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64" name="Google Shape;6264;p34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65" name="Google Shape;6265;p34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66" name="Google Shape;6266;p34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67" name="Google Shape;6267;p34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68" name="Google Shape;6268;p34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69" name="Google Shape;6269;p34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70" name="Google Shape;6270;p34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71" name="Google Shape;6271;p34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72" name="Google Shape;6272;p34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73" name="Google Shape;6273;p34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74" name="Google Shape;6274;p34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75" name="Google Shape;6275;p34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76" name="Google Shape;6276;p34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77" name="Google Shape;6277;p34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78" name="Google Shape;6278;p34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79" name="Google Shape;6279;p34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80" name="Google Shape;6280;p34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81" name="Google Shape;6281;p34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82" name="Google Shape;6282;p34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83" name="Google Shape;6283;p34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84" name="Google Shape;6284;p34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85" name="Google Shape;6285;p34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86" name="Google Shape;6286;p34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87" name="Google Shape;6287;p34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88" name="Google Shape;6288;p34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89" name="Google Shape;6289;p34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90" name="Google Shape;6290;p34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91" name="Google Shape;6291;p34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92" name="Google Shape;6292;p34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93" name="Google Shape;6293;p34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94" name="Google Shape;6294;p34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95" name="Google Shape;6295;p34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96" name="Google Shape;6296;p34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97" name="Google Shape;6297;p34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98" name="Google Shape;6298;p34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299" name="Google Shape;6299;p34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00" name="Google Shape;6300;p34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01" name="Google Shape;6301;p34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02" name="Google Shape;6302;p34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03" name="Google Shape;6303;p34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04" name="Google Shape;6304;p34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05" name="Google Shape;6305;p34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06" name="Google Shape;6306;p34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07" name="Google Shape;6307;p34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08" name="Google Shape;6308;p34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09" name="Google Shape;6309;p34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10" name="Google Shape;6310;p34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11" name="Google Shape;6311;p34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12" name="Google Shape;6312;p34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13" name="Google Shape;6313;p34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14" name="Google Shape;6314;p34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15" name="Google Shape;6315;p34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16" name="Google Shape;6316;p34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17" name="Google Shape;6317;p34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  <p:sp>
          <p:nvSpPr>
            <p:cNvPr id="6318" name="Google Shape;6318;p34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rgbClr val="81C7C7">
                <a:alpha val="334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  <p:pic>
        <p:nvPicPr>
          <p:cNvPr id="6319" name="Google Shape;6319;p34"/>
          <p:cNvPicPr preferRelativeResize="0"/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 rot="24">
            <a:off x="-1924984" y="4645676"/>
            <a:ext cx="3685203" cy="2953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0" name="Google Shape;6320;p34"/>
          <p:cNvPicPr preferRelativeResize="0"/>
          <p:nvPr/>
        </p:nvPicPr>
        <p:blipFill>
          <a:blip r:embed="rId4">
            <a:alphaModFix amt="72000"/>
          </a:blip>
          <a:stretch>
            <a:fillRect/>
          </a:stretch>
        </p:blipFill>
        <p:spPr>
          <a:xfrm rot="-10338121">
            <a:off x="9673165" y="-759257"/>
            <a:ext cx="3685203" cy="2953983"/>
          </a:xfrm>
          <a:prstGeom prst="rect">
            <a:avLst/>
          </a:prstGeom>
          <a:noFill/>
          <a:ln>
            <a:noFill/>
          </a:ln>
        </p:spPr>
      </p:pic>
      <p:sp>
        <p:nvSpPr>
          <p:cNvPr id="6321" name="Google Shape;6321;p34"/>
          <p:cNvSpPr txBox="1">
            <a:spLocks noGrp="1"/>
          </p:cNvSpPr>
          <p:nvPr>
            <p:ph type="title" idx="2" hasCustomPrompt="1"/>
          </p:nvPr>
        </p:nvSpPr>
        <p:spPr>
          <a:xfrm>
            <a:off x="2909867" y="2380600"/>
            <a:ext cx="1057200" cy="10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13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322" name="Google Shape;6322;p34"/>
          <p:cNvSpPr txBox="1">
            <a:spLocks noGrp="1"/>
          </p:cNvSpPr>
          <p:nvPr>
            <p:ph type="subTitle" idx="3"/>
          </p:nvPr>
        </p:nvSpPr>
        <p:spPr>
          <a:xfrm>
            <a:off x="4516833" y="2055000"/>
            <a:ext cx="5142800" cy="17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>
                <a:latin typeface="Saturday Sans Regular" panose="02010600010101010101" charset="-122"/>
                <a:sym typeface="Saturday Sans Regular" panose="02010600010101010101" charset="-12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sp>
        <p:nvSpPr>
          <p:cNvPr id="6323" name="Google Shape;6323;p34"/>
          <p:cNvSpPr txBox="1">
            <a:spLocks noGrp="1"/>
          </p:cNvSpPr>
          <p:nvPr>
            <p:ph type="title" idx="4" hasCustomPrompt="1"/>
          </p:nvPr>
        </p:nvSpPr>
        <p:spPr>
          <a:xfrm>
            <a:off x="2921936" y="4530900"/>
            <a:ext cx="1057200" cy="10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13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4" Type="http://schemas.openxmlformats.org/officeDocument/2006/relationships/slideLayout" Target="../slideLayouts/slideLayout5.xml"/><Relationship Id="rId13" Type="http://schemas.openxmlformats.org/officeDocument/2006/relationships/image" Target="../media/image11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11.png"/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3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5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2.xml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image" Target="../media/image11.png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4.png"/><Relationship Id="rId2" Type="http://schemas.openxmlformats.org/officeDocument/2006/relationships/image" Target="../media/image11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t="1876" b="4106"/>
          <a:stretch>
            <a:fillRect/>
          </a:stretch>
        </p:blipFill>
        <p:spPr>
          <a:xfrm>
            <a:off x="4721225" y="549275"/>
            <a:ext cx="7617460" cy="57543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t="3223" b="5928"/>
          <a:stretch>
            <a:fillRect/>
          </a:stretch>
        </p:blipFill>
        <p:spPr>
          <a:xfrm>
            <a:off x="2895600" y="629920"/>
            <a:ext cx="9315450" cy="66211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49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2646680" y="3429635"/>
            <a:ext cx="6898005" cy="601345"/>
          </a:xfrm>
          <a:prstGeom prst="roundRect">
            <a:avLst>
              <a:gd name="adj" fmla="val 50000"/>
            </a:avLst>
          </a:prstGeom>
          <a:solidFill>
            <a:srgbClr val="D8E8FD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pic>
        <p:nvPicPr>
          <p:cNvPr id="4" name="图片 3" descr="开源项目动态社交图智能分析系统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" y="-151765"/>
            <a:ext cx="1219200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50165" y="6308725"/>
            <a:ext cx="12192000" cy="549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89585" y="5394325"/>
            <a:ext cx="9986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Rainbow</a:t>
            </a:r>
            <a:r>
              <a:rPr lang="zh-CN" altLang="en-US" sz="24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队：鲍鑫宇、李昕芮</a:t>
            </a:r>
            <a:endParaRPr lang="zh-CN" altLang="en-US" sz="24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6435" y="939800"/>
            <a:ext cx="11025505" cy="24174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7200" dirty="0">
                <a:solidFill>
                  <a:schemeClr val="accent4">
                    <a:lumMod val="75000"/>
                  </a:schemeClr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Ra</a:t>
            </a:r>
            <a:r>
              <a:rPr lang="zh-CN" altLang="en-US" sz="7200" dirty="0">
                <a:solidFill>
                  <a:srgbClr val="F9B105"/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in</a:t>
            </a:r>
            <a:r>
              <a:rPr lang="zh-CN" altLang="en-US" sz="7200" dirty="0">
                <a:solidFill>
                  <a:srgbClr val="92D050"/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bo</a:t>
            </a:r>
            <a:r>
              <a:rPr lang="zh-CN" altLang="en-US" sz="7200" dirty="0">
                <a:solidFill>
                  <a:schemeClr val="accent2">
                    <a:lumMod val="75000"/>
                  </a:schemeClr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w</a:t>
            </a:r>
            <a:r>
              <a:rPr lang="zh-CN" altLang="en-US" sz="7200" dirty="0">
                <a:solidFill>
                  <a:schemeClr val="accent1">
                    <a:lumMod val="50000"/>
                    <a:lumOff val="50000"/>
                  </a:schemeClr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Spy</a:t>
            </a:r>
            <a:r>
              <a:rPr lang="zh-CN" altLang="en-US" sz="7200" dirty="0">
                <a:solidFill>
                  <a:schemeClr val="accent1"/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：</a:t>
            </a:r>
            <a:endParaRPr lang="zh-CN" altLang="en-US" sz="7200" b="1" dirty="0">
              <a:solidFill>
                <a:schemeClr val="accent1"/>
              </a:solidFill>
              <a:latin typeface="Ev - YunYou" panose="020B0604000101010104" charset="-122"/>
              <a:ea typeface="Ev - YunYou" panose="020B0604000101010104" charset="-122"/>
              <a:cs typeface="Ev - YunYou" panose="020B0604000101010104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5400" dirty="0">
              <a:solidFill>
                <a:schemeClr val="accent1"/>
              </a:solidFill>
              <a:latin typeface="+mj-lt"/>
              <a:ea typeface="WPS灵秀黑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4505" y="4478655"/>
            <a:ext cx="99815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本项目基于赛题提供的以下开源项目开发：</a:t>
            </a:r>
            <a:endParaRPr lang="zh-CN" altLang="en-US" sz="24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r>
              <a:rPr lang="en-US" altLang="zh-CN" sz="24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IoTDB</a:t>
            </a:r>
            <a:r>
              <a:rPr lang="zh-CN" altLang="en-US" sz="24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、</a:t>
            </a:r>
            <a:r>
              <a:rPr lang="en-US" altLang="zh-CN" sz="24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OpenDigger</a:t>
            </a:r>
            <a:r>
              <a:rPr lang="zh-CN" altLang="en-US" sz="24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、</a:t>
            </a:r>
            <a:r>
              <a:rPr lang="en-US" altLang="zh-CN" sz="24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MaxKB</a:t>
            </a:r>
            <a:r>
              <a:rPr lang="zh-CN" altLang="en-US" sz="24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、</a:t>
            </a:r>
            <a:r>
              <a:rPr lang="en-US" altLang="zh-CN" sz="24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SQLBot</a:t>
            </a:r>
            <a:endParaRPr lang="en-US" altLang="zh-CN" sz="24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71240" y="3503930"/>
            <a:ext cx="5136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2">
                    <a:lumMod val="25000"/>
                  </a:schemeClr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时序筛选</a:t>
            </a:r>
            <a:r>
              <a:rPr lang="en-US" altLang="zh-CN" sz="2400">
                <a:solidFill>
                  <a:schemeClr val="accent2">
                    <a:lumMod val="25000"/>
                  </a:schemeClr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 · </a:t>
            </a:r>
            <a:r>
              <a:rPr lang="zh-CN" altLang="en-US" sz="2400">
                <a:solidFill>
                  <a:schemeClr val="accent2">
                    <a:lumMod val="25000"/>
                  </a:schemeClr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智能关联</a:t>
            </a:r>
            <a:r>
              <a:rPr lang="en-US" altLang="zh-CN" sz="2400">
                <a:solidFill>
                  <a:schemeClr val="accent2">
                    <a:lumMod val="25000"/>
                  </a:schemeClr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 · </a:t>
            </a:r>
            <a:r>
              <a:rPr lang="zh-CN" altLang="en-US" sz="2400">
                <a:solidFill>
                  <a:schemeClr val="accent2">
                    <a:lumMod val="25000"/>
                  </a:schemeClr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方正清刻本悦宋简体" panose="02000000000000000000" charset="-122"/>
              </a:rPr>
              <a:t>交互可视化</a:t>
            </a:r>
            <a:endParaRPr lang="zh-CN" altLang="en-US" sz="2400">
              <a:solidFill>
                <a:schemeClr val="accent2">
                  <a:lumMod val="25000"/>
                </a:schemeClr>
              </a:solidFill>
              <a:latin typeface="方正清刻本悦宋简体" panose="02000000000000000000" charset="-122"/>
              <a:ea typeface="方正清刻本悦宋简体" panose="02000000000000000000" charset="-122"/>
              <a:cs typeface="方正清刻本悦宋简体" panose="020000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-50165" y="50800"/>
            <a:ext cx="12286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PS灵秀黑" charset="-122"/>
                <a:ea typeface="WPS灵秀黑" charset="-122"/>
              </a:rPr>
              <a:t>“OpenRank杯”开源数字生态分析与应用创新赛</a:t>
            </a:r>
            <a:endParaRPr lang="zh-CN" alt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PS灵秀黑" charset="-122"/>
              <a:ea typeface="WPS灵秀黑" charset="-122"/>
              <a:cs typeface="等线 Light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>
            <p:custDataLst>
              <p:tags r:id="rId1"/>
            </p:custDataLst>
          </p:nvPr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7" name="Rectangle 16"/>
          <p:cNvSpPr/>
          <p:nvPr>
            <p:custDataLst>
              <p:tags r:id="rId2"/>
            </p:custDataLst>
          </p:nvPr>
        </p:nvSpPr>
        <p:spPr>
          <a:xfrm>
            <a:off x="3048000" y="0"/>
            <a:ext cx="304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9" name="Rectangle 18"/>
          <p:cNvSpPr/>
          <p:nvPr>
            <p:custDataLst>
              <p:tags r:id="rId3"/>
            </p:custDataLst>
          </p:nvPr>
        </p:nvSpPr>
        <p:spPr>
          <a:xfrm>
            <a:off x="6096000" y="0"/>
            <a:ext cx="3048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0" name="Rectangle 19"/>
          <p:cNvSpPr/>
          <p:nvPr>
            <p:custDataLst>
              <p:tags r:id="rId4"/>
            </p:custDataLst>
          </p:nvPr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1" name="Isosceles Triangle 20"/>
          <p:cNvSpPr/>
          <p:nvPr>
            <p:custDataLst>
              <p:tags r:id="rId5"/>
            </p:custDataLst>
          </p:nvPr>
        </p:nvSpPr>
        <p:spPr>
          <a:xfrm rot="5400000">
            <a:off x="3004417" y="592858"/>
            <a:ext cx="631952" cy="544786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2" name="Isosceles Triangle 21"/>
          <p:cNvSpPr/>
          <p:nvPr>
            <p:custDataLst>
              <p:tags r:id="rId6"/>
            </p:custDataLst>
          </p:nvPr>
        </p:nvSpPr>
        <p:spPr>
          <a:xfrm rot="5400000">
            <a:off x="6052417" y="1224810"/>
            <a:ext cx="631952" cy="544786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3" name="Isosceles Triangle 22"/>
          <p:cNvSpPr/>
          <p:nvPr>
            <p:custDataLst>
              <p:tags r:id="rId7"/>
            </p:custDataLst>
          </p:nvPr>
        </p:nvSpPr>
        <p:spPr>
          <a:xfrm rot="5400000">
            <a:off x="9100417" y="1856762"/>
            <a:ext cx="631952" cy="544786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grpSp>
        <p:nvGrpSpPr>
          <p:cNvPr id="27" name="Group 26"/>
          <p:cNvGrpSpPr/>
          <p:nvPr>
            <p:custDataLst>
              <p:tags r:id="rId8"/>
            </p:custDataLst>
          </p:nvPr>
        </p:nvGrpSpPr>
        <p:grpSpPr>
          <a:xfrm>
            <a:off x="278736" y="549346"/>
            <a:ext cx="2593340" cy="3263056"/>
            <a:chOff x="24931" y="549346"/>
            <a:chExt cx="2593340" cy="3263056"/>
          </a:xfrm>
        </p:grpSpPr>
        <p:sp>
          <p:nvSpPr>
            <p:cNvPr id="24" name="TextBox 23"/>
            <p:cNvSpPr txBox="1"/>
            <p:nvPr>
              <p:custDataLst>
                <p:tags r:id="rId9"/>
              </p:custDataLst>
            </p:nvPr>
          </p:nvSpPr>
          <p:spPr>
            <a:xfrm>
              <a:off x="94781" y="2391907"/>
              <a:ext cx="2146357" cy="1420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defRPr sz="1600" b="1">
                  <a:solidFill>
                    <a:schemeClr val="accent2"/>
                  </a:solidFill>
                  <a:latin typeface="+mj-lt"/>
                </a:defRPr>
              </a:lvl1pPr>
            </a:lstStyle>
            <a:p>
              <a:r>
                <a:rPr lang="zh-CN" altLang="en-US" sz="3200" b="0" dirty="0">
                  <a:solidFill>
                    <a:schemeClr val="accent1"/>
                  </a:solidFill>
                  <a:latin typeface="WPS灵秀黑" charset="-122"/>
                  <a:ea typeface="WPS灵秀黑" charset="-122"/>
                </a:rPr>
                <a:t>痛点分析与</a:t>
              </a:r>
              <a:endParaRPr lang="zh-CN" altLang="en-US" sz="3200" b="0" dirty="0">
                <a:solidFill>
                  <a:schemeClr val="accent1"/>
                </a:solidFill>
                <a:latin typeface="WPS灵秀黑" charset="-122"/>
                <a:ea typeface="WPS灵秀黑" charset="-122"/>
              </a:endParaRPr>
            </a:p>
            <a:p>
              <a:r>
                <a:rPr lang="zh-CN" altLang="en-US" sz="3200" b="0" dirty="0">
                  <a:solidFill>
                    <a:schemeClr val="accent1"/>
                  </a:solidFill>
                  <a:latin typeface="WPS灵秀黑" charset="-122"/>
                  <a:ea typeface="WPS灵秀黑" charset="-122"/>
                </a:rPr>
                <a:t>项目目标</a:t>
              </a:r>
              <a:endParaRPr lang="zh-CN" altLang="en-US" sz="3200" b="0" dirty="0">
                <a:solidFill>
                  <a:schemeClr val="accent1"/>
                </a:solidFill>
                <a:latin typeface="WPS灵秀黑" charset="-122"/>
                <a:ea typeface="WPS灵秀黑" charset="-122"/>
              </a:endParaRPr>
            </a:p>
          </p:txBody>
        </p:sp>
        <p:sp>
          <p:nvSpPr>
            <p:cNvPr id="25" name="TextBox 24"/>
            <p:cNvSpPr txBox="1"/>
            <p:nvPr>
              <p:custDataLst>
                <p:tags r:id="rId10"/>
              </p:custDataLst>
            </p:nvPr>
          </p:nvSpPr>
          <p:spPr>
            <a:xfrm>
              <a:off x="24931" y="1343096"/>
              <a:ext cx="2593340" cy="891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defRPr sz="1600" b="1">
                  <a:solidFill>
                    <a:schemeClr val="accent2"/>
                  </a:solidFill>
                  <a:latin typeface="+mj-lt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en-ID" sz="2000" dirty="0">
                  <a:solidFill>
                    <a:schemeClr val="accent1"/>
                  </a:solidFill>
                  <a:latin typeface="等线 Light" panose="02010600030101010101" charset="-122"/>
                  <a:ea typeface="等线 Light" panose="02010600030101010101" charset="-122"/>
                </a:rPr>
                <a:t>Pain Point Analysis &amp; Project Objectives</a:t>
              </a:r>
              <a:endParaRPr lang="en-ID" sz="20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endParaRPr>
            </a:p>
          </p:txBody>
        </p:sp>
        <p:sp>
          <p:nvSpPr>
            <p:cNvPr id="26" name="TextBox 25"/>
            <p:cNvSpPr txBox="1"/>
            <p:nvPr>
              <p:custDataLst>
                <p:tags r:id="rId11"/>
              </p:custDataLst>
            </p:nvPr>
          </p:nvSpPr>
          <p:spPr>
            <a:xfrm>
              <a:off x="132246" y="549346"/>
              <a:ext cx="2146356" cy="838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90000"/>
                </a:lnSpc>
                <a:defRPr sz="4800" b="1">
                  <a:solidFill>
                    <a:schemeClr val="accent1"/>
                  </a:solidFill>
                  <a:latin typeface="+mj-lt"/>
                  <a:cs typeface="Space Grotesk SemiBold" pitchFamily="2" charset="0"/>
                </a:defRPr>
              </a:lvl1pPr>
            </a:lstStyle>
            <a:p>
              <a:pPr algn="l"/>
              <a:r>
                <a:rPr lang="en-US" sz="5400" b="0" dirty="0">
                  <a:latin typeface="汇文明朝体" panose="02000600000000000000" charset="-128"/>
                  <a:ea typeface="汇文明朝体" panose="02000600000000000000" charset="-128"/>
                  <a:cs typeface="Active SemiBold" charset="0"/>
                </a:rPr>
                <a:t>01</a:t>
              </a:r>
              <a:endParaRPr lang="en-US" sz="5400" b="0" dirty="0">
                <a:latin typeface="汇文明朝体" panose="02000600000000000000" charset="-128"/>
                <a:ea typeface="汇文明朝体" panose="02000600000000000000" charset="-128"/>
                <a:cs typeface="Active SemiBold" charset="0"/>
              </a:endParaRPr>
            </a:p>
          </p:txBody>
        </p:sp>
      </p:grpSp>
      <p:grpSp>
        <p:nvGrpSpPr>
          <p:cNvPr id="28" name="Group 27"/>
          <p:cNvGrpSpPr/>
          <p:nvPr>
            <p:custDataLst>
              <p:tags r:id="rId12"/>
            </p:custDataLst>
          </p:nvPr>
        </p:nvGrpSpPr>
        <p:grpSpPr>
          <a:xfrm>
            <a:off x="3498821" y="1582197"/>
            <a:ext cx="2146357" cy="1215181"/>
            <a:chOff x="197016" y="526486"/>
            <a:chExt cx="2146357" cy="1215181"/>
          </a:xfrm>
        </p:grpSpPr>
        <p:sp>
          <p:nvSpPr>
            <p:cNvPr id="29" name="TextBox 28"/>
            <p:cNvSpPr txBox="1"/>
            <p:nvPr>
              <p:custDataLst>
                <p:tags r:id="rId13"/>
              </p:custDataLst>
            </p:nvPr>
          </p:nvSpPr>
          <p:spPr>
            <a:xfrm>
              <a:off x="197016" y="1401942"/>
              <a:ext cx="2146357" cy="339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defRPr sz="1600" b="1">
                  <a:solidFill>
                    <a:schemeClr val="accent2"/>
                  </a:solidFill>
                  <a:latin typeface="+mj-lt"/>
                </a:defRPr>
              </a:lvl1pPr>
            </a:lstStyle>
            <a:p>
              <a:endParaRPr lang="en-ID" sz="1800" dirty="0">
                <a:solidFill>
                  <a:schemeClr val="accent1"/>
                </a:solidFill>
              </a:endParaRPr>
            </a:p>
          </p:txBody>
        </p:sp>
        <p:sp>
          <p:nvSpPr>
            <p:cNvPr id="31" name="TextBox 30"/>
            <p:cNvSpPr txBox="1"/>
            <p:nvPr>
              <p:custDataLst>
                <p:tags r:id="rId14"/>
              </p:custDataLst>
            </p:nvPr>
          </p:nvSpPr>
          <p:spPr>
            <a:xfrm>
              <a:off x="197016" y="526486"/>
              <a:ext cx="2146356" cy="838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90000"/>
                </a:lnSpc>
                <a:defRPr sz="4800" b="1">
                  <a:solidFill>
                    <a:schemeClr val="accent1"/>
                  </a:solidFill>
                  <a:latin typeface="+mj-lt"/>
                  <a:cs typeface="Space Grotesk SemiBold" pitchFamily="2" charset="0"/>
                </a:defRPr>
              </a:lvl1pPr>
            </a:lstStyle>
            <a:p>
              <a:pPr algn="l">
                <a:buClrTx/>
                <a:buSzTx/>
                <a:buFontTx/>
              </a:pPr>
              <a:r>
                <a:rPr lang="en-US" sz="5400" b="0" dirty="0">
                  <a:latin typeface="汇文明朝体" panose="02000600000000000000" charset="-128"/>
                  <a:ea typeface="汇文明朝体" panose="02000600000000000000" charset="-128"/>
                  <a:cs typeface="Active SemiBold" charset="0"/>
                </a:rPr>
                <a:t>02</a:t>
              </a:r>
              <a:endParaRPr lang="en-US" sz="5400" b="0" dirty="0">
                <a:latin typeface="汇文明朝体" panose="02000600000000000000" charset="-128"/>
                <a:ea typeface="汇文明朝体" panose="02000600000000000000" charset="-128"/>
                <a:cs typeface="Active SemiBold" charset="0"/>
              </a:endParaRPr>
            </a:p>
          </p:txBody>
        </p:sp>
      </p:grpSp>
      <p:sp>
        <p:nvSpPr>
          <p:cNvPr id="35" name="TextBox 34"/>
          <p:cNvSpPr txBox="1"/>
          <p:nvPr>
            <p:custDataLst>
              <p:tags r:id="rId15"/>
            </p:custDataLst>
          </p:nvPr>
        </p:nvSpPr>
        <p:spPr>
          <a:xfrm>
            <a:off x="6546850" y="2674620"/>
            <a:ext cx="2146300" cy="83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sz="5400" b="0" dirty="0">
                <a:latin typeface="汇文明朝体" panose="02000600000000000000" charset="-128"/>
                <a:ea typeface="汇文明朝体" panose="02000600000000000000" charset="-128"/>
                <a:cs typeface="Active SemiBold" charset="0"/>
              </a:rPr>
              <a:t>03</a:t>
            </a:r>
            <a:endParaRPr lang="en-US" sz="5400" b="0" dirty="0">
              <a:latin typeface="汇文明朝体" panose="02000600000000000000" charset="-128"/>
              <a:ea typeface="汇文明朝体" panose="02000600000000000000" charset="-128"/>
              <a:cs typeface="Active SemiBold" charset="0"/>
            </a:endParaRPr>
          </a:p>
        </p:txBody>
      </p:sp>
      <p:sp>
        <p:nvSpPr>
          <p:cNvPr id="39" name="TextBox 38"/>
          <p:cNvSpPr txBox="1"/>
          <p:nvPr>
            <p:custDataLst>
              <p:tags r:id="rId16"/>
            </p:custDataLst>
          </p:nvPr>
        </p:nvSpPr>
        <p:spPr>
          <a:xfrm>
            <a:off x="9594820" y="3536334"/>
            <a:ext cx="2146356" cy="83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sz="5400" b="0" dirty="0">
                <a:latin typeface="汇文明朝体" panose="02000600000000000000" charset="-128"/>
                <a:ea typeface="汇文明朝体" panose="02000600000000000000" charset="-128"/>
                <a:cs typeface="Active SemiBold" charset="0"/>
              </a:rPr>
              <a:t>04</a:t>
            </a:r>
            <a:endParaRPr lang="en-US" sz="5400" b="0" dirty="0">
              <a:latin typeface="汇文明朝体" panose="02000600000000000000" charset="-128"/>
              <a:ea typeface="汇文明朝体" panose="02000600000000000000" charset="-128"/>
              <a:cs typeface="Active SemiBold" charset="0"/>
            </a:endParaRPr>
          </a:p>
        </p:txBody>
      </p:sp>
      <p:sp>
        <p:nvSpPr>
          <p:cNvPr id="4" name="TextBox 23"/>
          <p:cNvSpPr txBox="1"/>
          <p:nvPr>
            <p:custDataLst>
              <p:tags r:id="rId17"/>
            </p:custDataLst>
          </p:nvPr>
        </p:nvSpPr>
        <p:spPr>
          <a:xfrm>
            <a:off x="3345151" y="3391397"/>
            <a:ext cx="2146357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zh-CN" altLang="en-US" sz="3200" b="0" dirty="0">
                <a:solidFill>
                  <a:schemeClr val="accent1"/>
                </a:solidFill>
                <a:latin typeface="WPS灵秀黑" charset="-122"/>
                <a:ea typeface="WPS灵秀黑" charset="-122"/>
              </a:rPr>
              <a:t>技术架构与</a:t>
            </a:r>
            <a:endParaRPr lang="zh-CN" altLang="en-US" sz="3200" b="0" dirty="0">
              <a:solidFill>
                <a:schemeClr val="accent1"/>
              </a:solidFill>
              <a:latin typeface="WPS灵秀黑" charset="-122"/>
              <a:ea typeface="WPS灵秀黑" charset="-122"/>
            </a:endParaRPr>
          </a:p>
          <a:p>
            <a:r>
              <a:rPr lang="zh-CN" altLang="en-US" sz="3200" b="0" dirty="0">
                <a:solidFill>
                  <a:schemeClr val="accent1"/>
                </a:solidFill>
                <a:latin typeface="WPS灵秀黑" charset="-122"/>
                <a:ea typeface="WPS灵秀黑" charset="-122"/>
              </a:rPr>
              <a:t>核心创新</a:t>
            </a:r>
            <a:endParaRPr lang="zh-CN" altLang="en-US" sz="3200" b="0" dirty="0">
              <a:solidFill>
                <a:schemeClr val="accent1"/>
              </a:solidFill>
              <a:latin typeface="WPS灵秀黑" charset="-122"/>
              <a:ea typeface="WPS灵秀黑" charset="-122"/>
            </a:endParaRPr>
          </a:p>
        </p:txBody>
      </p:sp>
      <p:sp>
        <p:nvSpPr>
          <p:cNvPr id="5" name="TextBox 24"/>
          <p:cNvSpPr txBox="1"/>
          <p:nvPr>
            <p:custDataLst>
              <p:tags r:id="rId18"/>
            </p:custDataLst>
          </p:nvPr>
        </p:nvSpPr>
        <p:spPr>
          <a:xfrm>
            <a:off x="3275330" y="2342515"/>
            <a:ext cx="291719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ID" sz="20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Technical Architecture </a:t>
            </a:r>
            <a:endParaRPr lang="en-ID" sz="20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ID" sz="20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&amp; Core Innovations</a:t>
            </a:r>
            <a:endParaRPr lang="en-US" altLang="zh-CN" sz="20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6" name="TextBox 23"/>
          <p:cNvSpPr txBox="1"/>
          <p:nvPr>
            <p:custDataLst>
              <p:tags r:id="rId19"/>
            </p:custDataLst>
          </p:nvPr>
        </p:nvSpPr>
        <p:spPr>
          <a:xfrm>
            <a:off x="6316345" y="4501515"/>
            <a:ext cx="258826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zh-CN" altLang="en-US" sz="3200" b="0" dirty="0">
                <a:solidFill>
                  <a:schemeClr val="accent1"/>
                </a:solidFill>
                <a:latin typeface="WPS灵秀黑" charset="-122"/>
                <a:ea typeface="WPS灵秀黑" charset="-122"/>
              </a:rPr>
              <a:t>功能</a:t>
            </a:r>
            <a:r>
              <a:rPr lang="zh-CN" altLang="en-US" sz="3200" b="0" dirty="0">
                <a:solidFill>
                  <a:schemeClr val="accent1"/>
                </a:solidFill>
                <a:latin typeface="WPS灵秀黑" charset="-122"/>
                <a:ea typeface="WPS灵秀黑" charset="-122"/>
              </a:rPr>
              <a:t>展示</a:t>
            </a:r>
            <a:endParaRPr lang="zh-CN" altLang="en-US" sz="3200" b="0" dirty="0">
              <a:solidFill>
                <a:schemeClr val="accent1"/>
              </a:solidFill>
              <a:latin typeface="WPS灵秀黑" charset="-122"/>
              <a:ea typeface="WPS灵秀黑" charset="-122"/>
            </a:endParaRPr>
          </a:p>
          <a:p>
            <a:endParaRPr lang="zh-CN" altLang="en-US" sz="3200" b="0" dirty="0">
              <a:solidFill>
                <a:schemeClr val="accent1"/>
              </a:solidFill>
              <a:latin typeface="WPS灵秀黑" charset="-122"/>
              <a:ea typeface="WPS灵秀黑" charset="-122"/>
            </a:endParaRPr>
          </a:p>
        </p:txBody>
      </p:sp>
      <p:sp>
        <p:nvSpPr>
          <p:cNvPr id="7" name="TextBox 24"/>
          <p:cNvSpPr txBox="1"/>
          <p:nvPr>
            <p:custDataLst>
              <p:tags r:id="rId20"/>
            </p:custDataLst>
          </p:nvPr>
        </p:nvSpPr>
        <p:spPr>
          <a:xfrm>
            <a:off x="6246466" y="3391606"/>
            <a:ext cx="259334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ID" sz="20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Expected Functions &amp; Feasibility Proof</a:t>
            </a:r>
            <a:endParaRPr lang="en-ID" sz="20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8" name="TextBox 23"/>
          <p:cNvSpPr txBox="1"/>
          <p:nvPr>
            <p:custDataLst>
              <p:tags r:id="rId21"/>
            </p:custDataLst>
          </p:nvPr>
        </p:nvSpPr>
        <p:spPr>
          <a:xfrm>
            <a:off x="9517351" y="5186542"/>
            <a:ext cx="2146357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zh-CN" altLang="en-US" sz="3200" b="0" dirty="0">
                <a:solidFill>
                  <a:schemeClr val="accent1"/>
                </a:solidFill>
                <a:latin typeface="WPS灵秀黑" charset="-122"/>
                <a:ea typeface="WPS灵秀黑" charset="-122"/>
              </a:rPr>
              <a:t>项目价值与</a:t>
            </a:r>
            <a:endParaRPr lang="zh-CN" altLang="en-US" sz="3200" b="0" dirty="0">
              <a:solidFill>
                <a:schemeClr val="accent1"/>
              </a:solidFill>
              <a:latin typeface="WPS灵秀黑" charset="-122"/>
              <a:ea typeface="WPS灵秀黑" charset="-122"/>
            </a:endParaRPr>
          </a:p>
          <a:p>
            <a:r>
              <a:rPr lang="zh-CN" altLang="en-US" sz="3200" b="0" dirty="0">
                <a:solidFill>
                  <a:schemeClr val="accent1"/>
                </a:solidFill>
                <a:latin typeface="WPS灵秀黑" charset="-122"/>
                <a:ea typeface="WPS灵秀黑" charset="-122"/>
              </a:rPr>
              <a:t>未来计划</a:t>
            </a:r>
            <a:endParaRPr lang="zh-CN" altLang="en-US" sz="3200" b="0" dirty="0">
              <a:solidFill>
                <a:schemeClr val="accent1"/>
              </a:solidFill>
              <a:latin typeface="WPS灵秀黑" charset="-122"/>
              <a:ea typeface="WPS灵秀黑" charset="-122"/>
            </a:endParaRPr>
          </a:p>
        </p:txBody>
      </p:sp>
      <p:sp>
        <p:nvSpPr>
          <p:cNvPr id="9" name="TextBox 24"/>
          <p:cNvSpPr txBox="1"/>
          <p:nvPr>
            <p:custDataLst>
              <p:tags r:id="rId22"/>
            </p:custDataLst>
          </p:nvPr>
        </p:nvSpPr>
        <p:spPr>
          <a:xfrm>
            <a:off x="9582121" y="4219646"/>
            <a:ext cx="259334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ID" sz="20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Project Value &amp; </a:t>
            </a:r>
            <a:endParaRPr lang="en-ID" sz="20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ID" sz="20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Future Plans</a:t>
            </a:r>
            <a:endParaRPr lang="en-ID" sz="20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27"/>
          <p:cNvSpPr/>
          <p:nvPr/>
        </p:nvSpPr>
        <p:spPr>
          <a:xfrm rot="10800000">
            <a:off x="7763799" y="3751174"/>
            <a:ext cx="4574731" cy="3116122"/>
          </a:xfrm>
          <a:custGeom>
            <a:avLst/>
            <a:gdLst>
              <a:gd name="connsiteX0" fmla="*/ 3810 w 5520690"/>
              <a:gd name="connsiteY0" fmla="*/ 0 h 3760471"/>
              <a:gd name="connsiteX1" fmla="*/ 250711 w 5520690"/>
              <a:gd name="connsiteY1" fmla="*/ 0 h 3760471"/>
              <a:gd name="connsiteX2" fmla="*/ 5266169 w 5520690"/>
              <a:gd name="connsiteY2" fmla="*/ 0 h 3760471"/>
              <a:gd name="connsiteX3" fmla="*/ 5520690 w 5520690"/>
              <a:gd name="connsiteY3" fmla="*/ 0 h 3760471"/>
              <a:gd name="connsiteX4" fmla="*/ 5520690 w 5520690"/>
              <a:gd name="connsiteY4" fmla="*/ 2354580 h 3760471"/>
              <a:gd name="connsiteX5" fmla="*/ 5516880 w 5520690"/>
              <a:gd name="connsiteY5" fmla="*/ 2354580 h 3760471"/>
              <a:gd name="connsiteX6" fmla="*/ 5516880 w 5520690"/>
              <a:gd name="connsiteY6" fmla="*/ 3509760 h 3760471"/>
              <a:gd name="connsiteX7" fmla="*/ 5266169 w 5520690"/>
              <a:gd name="connsiteY7" fmla="*/ 3760471 h 3760471"/>
              <a:gd name="connsiteX8" fmla="*/ 250711 w 5520690"/>
              <a:gd name="connsiteY8" fmla="*/ 3760471 h 3760471"/>
              <a:gd name="connsiteX9" fmla="*/ 0 w 5520690"/>
              <a:gd name="connsiteY9" fmla="*/ 3509760 h 3760471"/>
              <a:gd name="connsiteX10" fmla="*/ 0 w 5520690"/>
              <a:gd name="connsiteY10" fmla="*/ 250711 h 3760471"/>
              <a:gd name="connsiteX11" fmla="*/ 3810 w 5520690"/>
              <a:gd name="connsiteY11" fmla="*/ 231839 h 3760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20690" h="3760471">
                <a:moveTo>
                  <a:pt x="3810" y="0"/>
                </a:moveTo>
                <a:lnTo>
                  <a:pt x="250711" y="0"/>
                </a:lnTo>
                <a:lnTo>
                  <a:pt x="5266169" y="0"/>
                </a:lnTo>
                <a:lnTo>
                  <a:pt x="5520690" y="0"/>
                </a:lnTo>
                <a:lnTo>
                  <a:pt x="5520690" y="2354580"/>
                </a:lnTo>
                <a:lnTo>
                  <a:pt x="5516880" y="2354580"/>
                </a:lnTo>
                <a:lnTo>
                  <a:pt x="5516880" y="3509760"/>
                </a:lnTo>
                <a:cubicBezTo>
                  <a:pt x="5516880" y="3648224"/>
                  <a:pt x="5404633" y="3760471"/>
                  <a:pt x="5266169" y="3760471"/>
                </a:cubicBezTo>
                <a:lnTo>
                  <a:pt x="250711" y="3760471"/>
                </a:lnTo>
                <a:cubicBezTo>
                  <a:pt x="112247" y="3760471"/>
                  <a:pt x="0" y="3648224"/>
                  <a:pt x="0" y="3509760"/>
                </a:cubicBezTo>
                <a:lnTo>
                  <a:pt x="0" y="250711"/>
                </a:lnTo>
                <a:lnTo>
                  <a:pt x="3810" y="23183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8110576" y="4020414"/>
            <a:ext cx="4165657" cy="284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9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ctive SemiBold" charset="0"/>
              </a:rPr>
              <a:t>01</a:t>
            </a:r>
            <a:endParaRPr lang="en-US" sz="199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ctive SemiBold" charset="0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445770" y="2808052"/>
            <a:ext cx="6900546" cy="2011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ID" dirty="0">
                <a:latin typeface="等线 Light" panose="02010600030101010101" charset="-122"/>
                <a:ea typeface="等线 Light" panose="02010600030101010101" charset="-122"/>
                <a:cs typeface="Active SemiBold" charset="0"/>
                <a:sym typeface="+mn-ea"/>
              </a:rPr>
              <a:t>Pain Point Analysis </a:t>
            </a:r>
            <a:endParaRPr lang="en-ID" dirty="0">
              <a:latin typeface="等线 Light" panose="02010600030101010101" charset="-122"/>
              <a:ea typeface="等线 Light" panose="02010600030101010101" charset="-122"/>
              <a:cs typeface="Active SemiBold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ID" dirty="0">
                <a:latin typeface="等线 Light" panose="02010600030101010101" charset="-122"/>
                <a:ea typeface="等线 Light" panose="02010600030101010101" charset="-122"/>
                <a:cs typeface="Active SemiBold" charset="0"/>
                <a:sym typeface="+mn-ea"/>
              </a:rPr>
              <a:t>&amp; Project Objectives</a:t>
            </a:r>
            <a:endParaRPr lang="en-ID" dirty="0">
              <a:latin typeface="等线 Light" panose="02010600030101010101" charset="-122"/>
              <a:ea typeface="等线 Light" panose="02010600030101010101" charset="-122"/>
              <a:cs typeface="Active SemiBold" charset="0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0" y="0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6" name="Rectangle: Rounded Corners 9"/>
          <p:cNvSpPr/>
          <p:nvPr/>
        </p:nvSpPr>
        <p:spPr>
          <a:xfrm>
            <a:off x="706755" y="5797550"/>
            <a:ext cx="2738967" cy="51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0" name="Oval 10"/>
          <p:cNvSpPr/>
          <p:nvPr/>
        </p:nvSpPr>
        <p:spPr>
          <a:xfrm>
            <a:off x="3599459" y="5797550"/>
            <a:ext cx="511175" cy="5111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1" name="任意形状 658"/>
          <p:cNvSpPr/>
          <p:nvPr/>
        </p:nvSpPr>
        <p:spPr>
          <a:xfrm>
            <a:off x="3747163" y="5947900"/>
            <a:ext cx="220000" cy="2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lose/>
                <a:moveTo>
                  <a:pt x="10800" y="19440"/>
                </a:moveTo>
                <a:cubicBezTo>
                  <a:pt x="15572" y="19440"/>
                  <a:pt x="19440" y="15572"/>
                  <a:pt x="19440" y="10800"/>
                </a:cubicBezTo>
                <a:cubicBezTo>
                  <a:pt x="19440" y="6028"/>
                  <a:pt x="15572" y="2160"/>
                  <a:pt x="10800" y="2160"/>
                </a:cubicBezTo>
                <a:cubicBezTo>
                  <a:pt x="6028" y="2160"/>
                  <a:pt x="2160" y="6028"/>
                  <a:pt x="2160" y="10800"/>
                </a:cubicBezTo>
                <a:cubicBezTo>
                  <a:pt x="2160" y="15572"/>
                  <a:pt x="6028" y="19440"/>
                  <a:pt x="10800" y="19440"/>
                </a:cubicBezTo>
                <a:close/>
                <a:moveTo>
                  <a:pt x="9720" y="15120"/>
                </a:moveTo>
                <a:lnTo>
                  <a:pt x="6480" y="15120"/>
                </a:lnTo>
                <a:lnTo>
                  <a:pt x="6480" y="6480"/>
                </a:lnTo>
                <a:lnTo>
                  <a:pt x="9720" y="6480"/>
                </a:lnTo>
                <a:lnTo>
                  <a:pt x="9720" y="4320"/>
                </a:lnTo>
                <a:lnTo>
                  <a:pt x="11880" y="4320"/>
                </a:lnTo>
                <a:lnTo>
                  <a:pt x="11880" y="6480"/>
                </a:lnTo>
                <a:lnTo>
                  <a:pt x="12960" y="6480"/>
                </a:lnTo>
                <a:cubicBezTo>
                  <a:pt x="14451" y="6480"/>
                  <a:pt x="15660" y="7689"/>
                  <a:pt x="15660" y="9180"/>
                </a:cubicBezTo>
                <a:cubicBezTo>
                  <a:pt x="15660" y="9764"/>
                  <a:pt x="15470" y="10333"/>
                  <a:pt x="15120" y="10800"/>
                </a:cubicBezTo>
                <a:cubicBezTo>
                  <a:pt x="16015" y="11993"/>
                  <a:pt x="15773" y="13685"/>
                  <a:pt x="14580" y="14580"/>
                </a:cubicBezTo>
                <a:cubicBezTo>
                  <a:pt x="14113" y="14931"/>
                  <a:pt x="13544" y="15120"/>
                  <a:pt x="12960" y="15120"/>
                </a:cubicBezTo>
                <a:lnTo>
                  <a:pt x="11880" y="15120"/>
                </a:lnTo>
                <a:lnTo>
                  <a:pt x="11880" y="17280"/>
                </a:lnTo>
                <a:lnTo>
                  <a:pt x="9720" y="17280"/>
                </a:lnTo>
                <a:lnTo>
                  <a:pt x="9720" y="15120"/>
                </a:lnTo>
                <a:close/>
                <a:moveTo>
                  <a:pt x="8640" y="11880"/>
                </a:moveTo>
                <a:lnTo>
                  <a:pt x="8640" y="12960"/>
                </a:lnTo>
                <a:lnTo>
                  <a:pt x="12960" y="12960"/>
                </a:lnTo>
                <a:cubicBezTo>
                  <a:pt x="13258" y="12960"/>
                  <a:pt x="13500" y="12718"/>
                  <a:pt x="13500" y="12420"/>
                </a:cubicBezTo>
                <a:cubicBezTo>
                  <a:pt x="13500" y="12122"/>
                  <a:pt x="13258" y="11880"/>
                  <a:pt x="12960" y="11880"/>
                </a:cubicBezTo>
                <a:lnTo>
                  <a:pt x="8640" y="11880"/>
                </a:lnTo>
                <a:close/>
                <a:moveTo>
                  <a:pt x="8640" y="8640"/>
                </a:moveTo>
                <a:lnTo>
                  <a:pt x="8640" y="9720"/>
                </a:lnTo>
                <a:lnTo>
                  <a:pt x="12960" y="9720"/>
                </a:lnTo>
                <a:cubicBezTo>
                  <a:pt x="13258" y="9720"/>
                  <a:pt x="13500" y="9478"/>
                  <a:pt x="13500" y="9180"/>
                </a:cubicBezTo>
                <a:cubicBezTo>
                  <a:pt x="13500" y="8882"/>
                  <a:pt x="13258" y="8640"/>
                  <a:pt x="12960" y="8640"/>
                </a:cubicBezTo>
                <a:lnTo>
                  <a:pt x="8640" y="864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2" name="TextBox 12"/>
          <p:cNvSpPr txBox="1"/>
          <p:nvPr/>
        </p:nvSpPr>
        <p:spPr>
          <a:xfrm>
            <a:off x="854907" y="5909572"/>
            <a:ext cx="2442662" cy="28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/>
            <a:r>
              <a:rPr lang="en-US" altLang="en-ID" sz="1400" dirty="0">
                <a:solidFill>
                  <a:schemeClr val="accent1"/>
                </a:solidFill>
              </a:rPr>
              <a:t>Part 1</a:t>
            </a:r>
            <a:endParaRPr lang="en-US" altLang="en-ID" sz="1400" dirty="0">
              <a:solidFill>
                <a:schemeClr val="accent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4190" y="1633220"/>
            <a:ext cx="836104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dirty="0">
                <a:solidFill>
                  <a:schemeClr val="accent1"/>
                </a:solidFill>
                <a:latin typeface="方正大标宋简体" panose="02000000000000000000" charset="-122"/>
                <a:ea typeface="方正大标宋简体" panose="02000000000000000000" charset="-122"/>
                <a:sym typeface="+mn-ea"/>
              </a:rPr>
              <a:t>痛点分析与项目目标</a:t>
            </a:r>
            <a:endParaRPr lang="zh-CN" altLang="en-US" sz="6600" dirty="0">
              <a:solidFill>
                <a:schemeClr val="accent1"/>
              </a:solidFill>
              <a:latin typeface="方正大标宋简体" panose="02000000000000000000" charset="-122"/>
              <a:ea typeface="方正大标宋简体" panose="02000000000000000000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545080" y="-6985"/>
            <a:ext cx="9681845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9271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405755" y="4445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920990" y="5461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3870" y="304800"/>
            <a:ext cx="3895090" cy="3490595"/>
          </a:xfrm>
          <a:prstGeom prst="rect">
            <a:avLst/>
          </a:prstGeom>
        </p:spPr>
      </p:pic>
      <p:sp>
        <p:nvSpPr>
          <p:cNvPr id="31" name="TextBox 1"/>
          <p:cNvSpPr txBox="1"/>
          <p:nvPr/>
        </p:nvSpPr>
        <p:spPr>
          <a:xfrm>
            <a:off x="-60960" y="8064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1"/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1855" y="874395"/>
            <a:ext cx="4474845" cy="5081905"/>
          </a:xfrm>
          <a:prstGeom prst="rect">
            <a:avLst/>
          </a:prstGeom>
          <a:ln w="38100">
            <a:solidFill>
              <a:schemeClr val="accent2"/>
            </a:solidFill>
            <a:prstDash val="dash"/>
          </a:ln>
        </p:spPr>
      </p:pic>
      <p:sp>
        <p:nvSpPr>
          <p:cNvPr id="22" name="Rectangle: Rounded Corners 21"/>
          <p:cNvSpPr/>
          <p:nvPr>
            <p:custDataLst>
              <p:tags r:id="rId2"/>
            </p:custDataLst>
          </p:nvPr>
        </p:nvSpPr>
        <p:spPr>
          <a:xfrm>
            <a:off x="536575" y="1670050"/>
            <a:ext cx="4003675" cy="1788160"/>
          </a:xfrm>
          <a:prstGeom prst="roundRect">
            <a:avLst>
              <a:gd name="adj" fmla="val 1812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3" name="Rectangle: Rounded Corners 22"/>
          <p:cNvSpPr/>
          <p:nvPr>
            <p:custDataLst>
              <p:tags r:id="rId3"/>
            </p:custDataLst>
          </p:nvPr>
        </p:nvSpPr>
        <p:spPr>
          <a:xfrm>
            <a:off x="536575" y="3797300"/>
            <a:ext cx="4003675" cy="1695450"/>
          </a:xfrm>
          <a:prstGeom prst="roundRect">
            <a:avLst>
              <a:gd name="adj" fmla="val 1812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03895" y="991871"/>
            <a:ext cx="330517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 algn="l"/>
            <a:r>
              <a:rPr lang="zh-CN" altLang="en-ID" dirty="0">
                <a:latin typeface="仓耳非白 W01" charset="-122"/>
                <a:ea typeface="仓耳非白 W01" charset="-122"/>
                <a:cs typeface="Active SemiBold" charset="0"/>
              </a:rPr>
              <a:t>痛点分析</a:t>
            </a:r>
            <a:endParaRPr lang="zh-CN" altLang="en-ID" dirty="0">
              <a:latin typeface="仓耳非白 W01" charset="-122"/>
              <a:ea typeface="仓耳非白 W01" charset="-122"/>
              <a:cs typeface="Active SemiBold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7155815" y="5893117"/>
            <a:ext cx="4919980" cy="511175"/>
            <a:chOff x="7003415" y="5300662"/>
            <a:chExt cx="4919980" cy="511175"/>
          </a:xfrm>
        </p:grpSpPr>
        <p:grpSp>
          <p:nvGrpSpPr>
            <p:cNvPr id="15" name="Group 14"/>
            <p:cNvGrpSpPr/>
            <p:nvPr/>
          </p:nvGrpSpPr>
          <p:grpSpPr>
            <a:xfrm>
              <a:off x="10985500" y="5300662"/>
              <a:ext cx="511175" cy="511175"/>
              <a:chOff x="10985500" y="5300662"/>
              <a:chExt cx="511175" cy="511175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10985500" y="5300662"/>
                <a:ext cx="511175" cy="51117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Saturday Sans Regular" panose="02010600010101010101" charset="-122"/>
                  <a:sym typeface="Saturday Sans Regular" panose="02010600010101010101" charset="-122"/>
                </a:endParaRPr>
              </a:p>
            </p:txBody>
          </p:sp>
          <p:sp>
            <p:nvSpPr>
              <p:cNvPr id="12" name="任意形状 658"/>
              <p:cNvSpPr/>
              <p:nvPr/>
            </p:nvSpPr>
            <p:spPr>
              <a:xfrm>
                <a:off x="11133204" y="5451012"/>
                <a:ext cx="220000" cy="22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lose/>
                    <a:moveTo>
                      <a:pt x="10800" y="19440"/>
                    </a:moveTo>
                    <a:cubicBezTo>
                      <a:pt x="15572" y="19440"/>
                      <a:pt x="19440" y="15572"/>
                      <a:pt x="19440" y="10800"/>
                    </a:cubicBezTo>
                    <a:cubicBezTo>
                      <a:pt x="19440" y="6028"/>
                      <a:pt x="15572" y="2160"/>
                      <a:pt x="10800" y="2160"/>
                    </a:cubicBezTo>
                    <a:cubicBezTo>
                      <a:pt x="6028" y="2160"/>
                      <a:pt x="2160" y="6028"/>
                      <a:pt x="2160" y="10800"/>
                    </a:cubicBezTo>
                    <a:cubicBezTo>
                      <a:pt x="2160" y="15572"/>
                      <a:pt x="6028" y="19440"/>
                      <a:pt x="10800" y="19440"/>
                    </a:cubicBezTo>
                    <a:close/>
                    <a:moveTo>
                      <a:pt x="9720" y="15120"/>
                    </a:moveTo>
                    <a:lnTo>
                      <a:pt x="6480" y="15120"/>
                    </a:lnTo>
                    <a:lnTo>
                      <a:pt x="6480" y="6480"/>
                    </a:lnTo>
                    <a:lnTo>
                      <a:pt x="9720" y="6480"/>
                    </a:lnTo>
                    <a:lnTo>
                      <a:pt x="9720" y="4320"/>
                    </a:lnTo>
                    <a:lnTo>
                      <a:pt x="11880" y="4320"/>
                    </a:lnTo>
                    <a:lnTo>
                      <a:pt x="11880" y="6480"/>
                    </a:lnTo>
                    <a:lnTo>
                      <a:pt x="12960" y="6480"/>
                    </a:lnTo>
                    <a:cubicBezTo>
                      <a:pt x="14451" y="6480"/>
                      <a:pt x="15660" y="7689"/>
                      <a:pt x="15660" y="9180"/>
                    </a:cubicBezTo>
                    <a:cubicBezTo>
                      <a:pt x="15660" y="9764"/>
                      <a:pt x="15470" y="10333"/>
                      <a:pt x="15120" y="10800"/>
                    </a:cubicBezTo>
                    <a:cubicBezTo>
                      <a:pt x="16015" y="11993"/>
                      <a:pt x="15773" y="13685"/>
                      <a:pt x="14580" y="14580"/>
                    </a:cubicBezTo>
                    <a:cubicBezTo>
                      <a:pt x="14113" y="14931"/>
                      <a:pt x="13544" y="15120"/>
                      <a:pt x="12960" y="15120"/>
                    </a:cubicBezTo>
                    <a:lnTo>
                      <a:pt x="11880" y="15120"/>
                    </a:lnTo>
                    <a:lnTo>
                      <a:pt x="11880" y="17280"/>
                    </a:lnTo>
                    <a:lnTo>
                      <a:pt x="9720" y="17280"/>
                    </a:lnTo>
                    <a:lnTo>
                      <a:pt x="9720" y="15120"/>
                    </a:lnTo>
                    <a:close/>
                    <a:moveTo>
                      <a:pt x="8640" y="11880"/>
                    </a:moveTo>
                    <a:lnTo>
                      <a:pt x="8640" y="12960"/>
                    </a:lnTo>
                    <a:lnTo>
                      <a:pt x="12960" y="12960"/>
                    </a:lnTo>
                    <a:cubicBezTo>
                      <a:pt x="13258" y="12960"/>
                      <a:pt x="13500" y="12718"/>
                      <a:pt x="13500" y="12420"/>
                    </a:cubicBezTo>
                    <a:cubicBezTo>
                      <a:pt x="13500" y="12122"/>
                      <a:pt x="13258" y="11880"/>
                      <a:pt x="12960" y="11880"/>
                    </a:cubicBezTo>
                    <a:lnTo>
                      <a:pt x="8640" y="11880"/>
                    </a:lnTo>
                    <a:close/>
                    <a:moveTo>
                      <a:pt x="8640" y="8640"/>
                    </a:moveTo>
                    <a:lnTo>
                      <a:pt x="8640" y="9720"/>
                    </a:lnTo>
                    <a:lnTo>
                      <a:pt x="12960" y="9720"/>
                    </a:lnTo>
                    <a:cubicBezTo>
                      <a:pt x="13258" y="9720"/>
                      <a:pt x="13500" y="9478"/>
                      <a:pt x="13500" y="9180"/>
                    </a:cubicBezTo>
                    <a:cubicBezTo>
                      <a:pt x="13500" y="8882"/>
                      <a:pt x="13258" y="8640"/>
                      <a:pt x="12960" y="8640"/>
                    </a:cubicBezTo>
                    <a:lnTo>
                      <a:pt x="8640" y="864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>
                  <a:latin typeface="Saturday Sans Regular" panose="02010600010101010101" charset="-122"/>
                  <a:sym typeface="Saturday Sans Regular" panose="02010600010101010101" charset="-122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003415" y="5300662"/>
              <a:ext cx="4919980" cy="511175"/>
              <a:chOff x="7003415" y="5300662"/>
              <a:chExt cx="4919980" cy="511175"/>
            </a:xfrm>
          </p:grpSpPr>
          <p:sp>
            <p:nvSpPr>
              <p:cNvPr id="10" name="Rectangle: Rounded Corners 9"/>
              <p:cNvSpPr/>
              <p:nvPr/>
            </p:nvSpPr>
            <p:spPr>
              <a:xfrm>
                <a:off x="8191500" y="5300662"/>
                <a:ext cx="2590813" cy="511175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>
                  <a:latin typeface="Saturday Sans Regular" panose="02010600010101010101" charset="-122"/>
                  <a:sym typeface="Saturday Sans Regular" panose="02010600010101010101" charset="-122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7003415" y="5394007"/>
                <a:ext cx="4919980" cy="339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90000"/>
                  </a:lnSpc>
                  <a:defRPr sz="1600" b="1">
                    <a:solidFill>
                      <a:schemeClr val="accent2"/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altLang="zh-CN" sz="1800" dirty="0">
                    <a:solidFill>
                      <a:schemeClr val="accent1"/>
                    </a:solidFill>
                    <a:latin typeface="等线 Light" panose="02010600030101010101" charset="-122"/>
                    <a:ea typeface="等线 Light" panose="02010600030101010101" charset="-122"/>
                  </a:rPr>
                  <a:t>Pain Point Analysis</a:t>
                </a:r>
                <a:endParaRPr lang="en-US" altLang="zh-CN" sz="1800" dirty="0">
                  <a:solidFill>
                    <a:schemeClr val="accent1"/>
                  </a:solidFill>
                  <a:latin typeface="等线 Light" panose="02010600030101010101" charset="-122"/>
                  <a:ea typeface="等线 Light" panose="02010600030101010101" charset="-122"/>
                </a:endParaRPr>
              </a:p>
            </p:txBody>
          </p:sp>
        </p:grpSp>
      </p:grpSp>
      <p:cxnSp>
        <p:nvCxnSpPr>
          <p:cNvPr id="17" name="Straight Connector 16"/>
          <p:cNvCxnSpPr/>
          <p:nvPr/>
        </p:nvCxnSpPr>
        <p:spPr>
          <a:xfrm>
            <a:off x="8249700" y="1792500"/>
            <a:ext cx="32311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>
            <p:custDataLst>
              <p:tags r:id="rId4"/>
            </p:custDataLst>
          </p:nvPr>
        </p:nvSpPr>
        <p:spPr>
          <a:xfrm>
            <a:off x="2623820" y="1835150"/>
            <a:ext cx="192786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传统</a:t>
            </a:r>
            <a:r>
              <a:rPr lang="en-US" altLang="zh-CN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Star/Fork </a:t>
            </a: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仅反映历史累积，无法识别当前</a:t>
            </a:r>
            <a:endParaRPr lang="zh-CN" altLang="en-US" sz="1800" b="0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趋势向好的项目</a:t>
            </a:r>
            <a:r>
              <a:rPr lang="zh-CN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。</a:t>
            </a:r>
            <a:endParaRPr lang="zh-CN" altLang="en-US" b="0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5"/>
            </p:custDataLst>
          </p:nvPr>
        </p:nvSpPr>
        <p:spPr>
          <a:xfrm>
            <a:off x="677545" y="2835275"/>
            <a:ext cx="2597150" cy="58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altLang="zh-CN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Limitations of </a:t>
            </a:r>
            <a:endParaRPr lang="en-US" altLang="zh-CN" sz="18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  <a:p>
            <a:r>
              <a:rPr lang="en-US" altLang="zh-CN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static metrics</a:t>
            </a:r>
            <a:endParaRPr lang="en-US" altLang="zh-CN" sz="18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6"/>
            </p:custDataLst>
          </p:nvPr>
        </p:nvSpPr>
        <p:spPr>
          <a:xfrm>
            <a:off x="619760" y="1836420"/>
            <a:ext cx="284035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 algn="l"/>
            <a:r>
              <a:rPr lang="zh-CN" altLang="en-US" sz="3600" b="0" dirty="0">
                <a:latin typeface="方正清刻本悦宋简体" panose="02000000000000000000" charset="-122"/>
                <a:ea typeface="方正清刻本悦宋简体" panose="02000000000000000000" charset="-122"/>
                <a:cs typeface="Active SemiBold" charset="0"/>
              </a:rPr>
              <a:t>静态指标</a:t>
            </a:r>
            <a:endParaRPr lang="zh-CN" altLang="en-US" sz="3600" b="0" dirty="0">
              <a:latin typeface="方正清刻本悦宋简体" panose="02000000000000000000" charset="-122"/>
              <a:ea typeface="方正清刻本悦宋简体" panose="02000000000000000000" charset="-122"/>
              <a:cs typeface="Active SemiBold" charset="0"/>
            </a:endParaRPr>
          </a:p>
          <a:p>
            <a:pPr algn="l"/>
            <a:r>
              <a:rPr lang="zh-CN" altLang="en-US" sz="3600" b="0" dirty="0">
                <a:latin typeface="方正清刻本悦宋简体" panose="02000000000000000000" charset="-122"/>
                <a:ea typeface="方正清刻本悦宋简体" panose="02000000000000000000" charset="-122"/>
                <a:cs typeface="Active SemiBold" charset="0"/>
              </a:rPr>
              <a:t>的局限</a:t>
            </a:r>
            <a:endParaRPr lang="zh-CN" altLang="en-US" sz="3600" b="0" dirty="0">
              <a:latin typeface="方正清刻本悦宋简体" panose="02000000000000000000" charset="-122"/>
              <a:ea typeface="方正清刻本悦宋简体" panose="02000000000000000000" charset="-122"/>
              <a:cs typeface="Active SemiBold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074660" y="1878330"/>
            <a:ext cx="38087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GitHub </a:t>
            </a:r>
            <a:r>
              <a:rPr lang="zh-CN" altLang="en-US" sz="20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仓库数破</a:t>
            </a:r>
            <a:r>
              <a:rPr lang="en-US" altLang="zh-CN" sz="20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4 </a:t>
            </a:r>
            <a:r>
              <a:rPr lang="zh-CN" altLang="en-US" sz="20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亿，信息过载严重，</a:t>
            </a:r>
            <a:r>
              <a:rPr lang="zh-CN" altLang="en-US" sz="20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海量信息加剧筛选难度与认知负荷，开发者难以搭建完整技术方案、维护者无法明确生态定位、用户难以快速捕捉关键项目与生态关联。</a:t>
            </a:r>
            <a:endParaRPr lang="zh-CN" altLang="en-US" sz="20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24" name="TextBox 27"/>
          <p:cNvSpPr txBox="1"/>
          <p:nvPr>
            <p:custDataLst>
              <p:tags r:id="rId7"/>
            </p:custDataLst>
          </p:nvPr>
        </p:nvSpPr>
        <p:spPr>
          <a:xfrm>
            <a:off x="683895" y="4376420"/>
            <a:ext cx="4325620" cy="1874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项目间缺乏多维度</a:t>
            </a:r>
            <a:endParaRPr lang="zh-CN" altLang="en-US" b="0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(</a:t>
            </a:r>
            <a:r>
              <a:rPr lang="zh-CN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技术栈、协作关系、语义</a:t>
            </a:r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)</a:t>
            </a:r>
            <a:r>
              <a:rPr lang="zh-CN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的横向关联，</a:t>
            </a:r>
            <a:endParaRPr lang="zh-CN" altLang="en-US" b="0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开发者难以看清生态全貌。</a:t>
            </a:r>
            <a:endParaRPr lang="zh-CN" altLang="en-US" b="0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32" name="TextBox 29"/>
          <p:cNvSpPr txBox="1"/>
          <p:nvPr>
            <p:custDataLst>
              <p:tags r:id="rId8"/>
            </p:custDataLst>
          </p:nvPr>
        </p:nvSpPr>
        <p:spPr>
          <a:xfrm>
            <a:off x="2494280" y="4448175"/>
            <a:ext cx="2597150" cy="33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altLang="zh-CN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Information silos</a:t>
            </a:r>
            <a:endParaRPr lang="en-US" altLang="zh-CN" sz="18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3" name="TextBox 30"/>
          <p:cNvSpPr txBox="1"/>
          <p:nvPr>
            <p:custDataLst>
              <p:tags r:id="rId9"/>
            </p:custDataLst>
          </p:nvPr>
        </p:nvSpPr>
        <p:spPr>
          <a:xfrm>
            <a:off x="2366010" y="3924300"/>
            <a:ext cx="2840355" cy="58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 algn="l"/>
            <a:r>
              <a:rPr lang="zh-CN" altLang="en-US" sz="3600" b="0" dirty="0">
                <a:latin typeface="方正清刻本悦宋简体" panose="02000000000000000000" charset="-122"/>
                <a:ea typeface="方正清刻本悦宋简体" panose="02000000000000000000" charset="-122"/>
                <a:cs typeface="Active SemiBold" charset="0"/>
              </a:rPr>
              <a:t>信息孤岛</a:t>
            </a:r>
            <a:endParaRPr lang="zh-CN" altLang="en-US" sz="3600" b="0" dirty="0">
              <a:latin typeface="方正清刻本悦宋简体" panose="02000000000000000000" charset="-122"/>
              <a:ea typeface="方正清刻本悦宋简体" panose="02000000000000000000" charset="-122"/>
              <a:cs typeface="Active SemiBold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0"/>
          <a:srcRect l="18439" t="-9754"/>
          <a:stretch>
            <a:fillRect/>
          </a:stretch>
        </p:blipFill>
        <p:spPr>
          <a:xfrm>
            <a:off x="10102215" y="3567430"/>
            <a:ext cx="1665605" cy="707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9920" y="4030345"/>
            <a:ext cx="1971675" cy="6229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0705" y="4845050"/>
            <a:ext cx="3659505" cy="8274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6" name="矩形 45"/>
          <p:cNvSpPr/>
          <p:nvPr/>
        </p:nvSpPr>
        <p:spPr>
          <a:xfrm>
            <a:off x="-210185" y="-6985"/>
            <a:ext cx="1243711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47" name="Rectangle 4"/>
          <p:cNvSpPr/>
          <p:nvPr/>
        </p:nvSpPr>
        <p:spPr>
          <a:xfrm>
            <a:off x="0" y="0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48" name="TextBox 1"/>
          <p:cNvSpPr txBox="1"/>
          <p:nvPr/>
        </p:nvSpPr>
        <p:spPr>
          <a:xfrm>
            <a:off x="2435860" y="6413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49" name="TextBox 1"/>
          <p:cNvSpPr txBox="1"/>
          <p:nvPr/>
        </p:nvSpPr>
        <p:spPr>
          <a:xfrm>
            <a:off x="5405755" y="5461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50" name="TextBox 1"/>
          <p:cNvSpPr txBox="1"/>
          <p:nvPr/>
        </p:nvSpPr>
        <p:spPr>
          <a:xfrm>
            <a:off x="7870190" y="5080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55" name="Picture 68" descr="华东师范大学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56" name="TextBox 1"/>
          <p:cNvSpPr txBox="1"/>
          <p:nvPr/>
        </p:nvSpPr>
        <p:spPr>
          <a:xfrm>
            <a:off x="-111125" y="4953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1"/>
              </a:solidFill>
              <a:latin typeface="+mj-lt"/>
              <a:cs typeface="Active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D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49326" name="Rectangle 14"/>
          <p:cNvSpPr/>
          <p:nvPr/>
        </p:nvSpPr>
        <p:spPr>
          <a:xfrm>
            <a:off x="942340" y="3035935"/>
            <a:ext cx="10214610" cy="34702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lIns="91440" tIns="45720" rIns="91440" bIns="45720" anchor="ctr" anchorCtr="0"/>
          <a:p>
            <a:pPr algn="ctr">
              <a:buFontTx/>
              <a:buNone/>
            </a:pPr>
            <a:endParaRPr lang="en-ID" altLang="en-US" baseline="0" dirty="0">
              <a:solidFill>
                <a:srgbClr val="FFFFFF"/>
              </a:solidFill>
              <a:latin typeface="Calibri" panose="020F0502020204030204" charset="0"/>
              <a:sym typeface="Calibri" panose="020F0502020204030204" charset="0"/>
            </a:endParaRPr>
          </a:p>
        </p:txBody>
      </p:sp>
      <p:sp>
        <p:nvSpPr>
          <p:cNvPr id="1049328" name="Text Placeholder 1"/>
          <p:cNvSpPr/>
          <p:nvPr>
            <p:ph type="body" sz="quarter" idx="1"/>
          </p:nvPr>
        </p:nvSpPr>
        <p:spPr>
          <a:xfrm>
            <a:off x="-772160" y="640398"/>
            <a:ext cx="6059488" cy="8953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marL="0" indent="0" algn="ctr">
              <a:buNone/>
            </a:pPr>
            <a:r>
              <a:rPr lang="zh-CN" altLang="en-US" sz="4400" b="1" dirty="0">
                <a:solidFill>
                  <a:schemeClr val="tx1"/>
                </a:solidFill>
                <a:latin typeface="仓耳非白 W01" charset="-122"/>
                <a:ea typeface="仓耳非白 W01" charset="-122"/>
              </a:rPr>
              <a:t>项目目标</a:t>
            </a:r>
            <a:endParaRPr lang="zh-CN" altLang="en-US" sz="4400" b="1" dirty="0">
              <a:solidFill>
                <a:schemeClr val="tx1"/>
              </a:solidFill>
              <a:latin typeface="仓耳非白 W01" charset="-122"/>
              <a:ea typeface="仓耳非白 W01" charset="-122"/>
            </a:endParaRPr>
          </a:p>
        </p:txBody>
      </p:sp>
      <p:sp>
        <p:nvSpPr>
          <p:cNvPr id="1049332" name="Text Placeholder 6"/>
          <p:cNvSpPr/>
          <p:nvPr>
            <p:ph type="body" sz="quarter" idx="4294967295"/>
          </p:nvPr>
        </p:nvSpPr>
        <p:spPr>
          <a:xfrm>
            <a:off x="2007235" y="4057333"/>
            <a:ext cx="2176463" cy="2667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marL="0" indent="0" algn="ctr">
              <a:lnSpc>
                <a:spcPct val="100000"/>
              </a:lnSpc>
              <a:buNone/>
            </a:pPr>
            <a:r>
              <a:rPr lang="en-ID" altLang="en-US" sz="2000" b="1" dirty="0">
                <a:solidFill>
                  <a:schemeClr val="accent2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Original Garamond Std Roman" panose="02010600010101010101" charset="-122"/>
              </a:rPr>
              <a:t>动态时序筛选</a:t>
            </a:r>
            <a:endParaRPr lang="en-ID" altLang="en-US" sz="2000" b="1" dirty="0">
              <a:solidFill>
                <a:schemeClr val="accent2">
                  <a:lumMod val="75000"/>
                </a:schemeClr>
              </a:solidFill>
              <a:latin typeface="等线" panose="02010600030101010101" charset="-122"/>
              <a:ea typeface="等线" panose="02010600030101010101" charset="-122"/>
              <a:cs typeface="Original Garamond Std Roman" panose="02010600010101010101" charset="-122"/>
            </a:endParaRPr>
          </a:p>
        </p:txBody>
      </p:sp>
      <p:sp>
        <p:nvSpPr>
          <p:cNvPr id="1049334" name="Text Placeholder 7"/>
          <p:cNvSpPr/>
          <p:nvPr>
            <p:ph type="body" sz="quarter" idx="4294967295"/>
          </p:nvPr>
        </p:nvSpPr>
        <p:spPr>
          <a:xfrm>
            <a:off x="2025650" y="4940300"/>
            <a:ext cx="2242185" cy="85979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5DB1FB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利用</a:t>
            </a:r>
            <a:r>
              <a:rPr lang="en-US" altLang="zh-CN" sz="2000" b="1" dirty="0">
                <a:solidFill>
                  <a:srgbClr val="5DB1FB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IoTDB </a:t>
            </a:r>
            <a:r>
              <a:rPr lang="zh-CN" altLang="en-US" sz="2000" b="1" dirty="0">
                <a:solidFill>
                  <a:srgbClr val="5DB1FB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捕捉</a:t>
            </a:r>
            <a:r>
              <a:rPr lang="en-US" altLang="zh-CN" sz="2000" b="1" dirty="0">
                <a:solidFill>
                  <a:srgbClr val="5DB1FB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OpenRank </a:t>
            </a:r>
            <a:r>
              <a:rPr lang="zh-CN" altLang="en-US" sz="2000" b="1" dirty="0">
                <a:solidFill>
                  <a:srgbClr val="5DB1FB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和活跃度的增长斜率，实时筛选高潜力项目。</a:t>
            </a:r>
            <a:endParaRPr lang="zh-CN" altLang="en-US" sz="2000" b="1" dirty="0">
              <a:solidFill>
                <a:srgbClr val="5DB1FB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cxnSp>
        <p:nvCxnSpPr>
          <p:cNvPr id="3145850" name="Straight Connector 22"/>
          <p:cNvCxnSpPr/>
          <p:nvPr/>
        </p:nvCxnSpPr>
        <p:spPr>
          <a:xfrm>
            <a:off x="425450" y="604838"/>
            <a:ext cx="0" cy="4294187"/>
          </a:xfrm>
          <a:prstGeom prst="line">
            <a:avLst/>
          </a:prstGeom>
          <a:ln w="6350" cap="flat" cmpd="sng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9348" name="Rectangle 25"/>
          <p:cNvSpPr/>
          <p:nvPr/>
        </p:nvSpPr>
        <p:spPr>
          <a:xfrm>
            <a:off x="384175" y="2155825"/>
            <a:ext cx="82550" cy="260350"/>
          </a:xfrm>
          <a:prstGeom prst="rect">
            <a:avLst/>
          </a:prstGeom>
          <a:solidFill>
            <a:srgbClr val="FEDB5E"/>
          </a:solidFill>
          <a:ln w="9525">
            <a:noFill/>
          </a:ln>
        </p:spPr>
        <p:txBody>
          <a:bodyPr vert="horz" lIns="91440" tIns="45720" rIns="91440" bIns="45720" anchor="ctr" anchorCtr="0"/>
          <a:p>
            <a:pPr algn="ctr">
              <a:buFontTx/>
              <a:buNone/>
            </a:pPr>
            <a:endParaRPr lang="en-ID" altLang="en-US" baseline="0" dirty="0">
              <a:solidFill>
                <a:srgbClr val="FFFFFF"/>
              </a:solidFill>
              <a:latin typeface="Calibri" panose="020F0502020204030204" charset="0"/>
              <a:sym typeface="Calibri" panose="020F05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6480" y="1271270"/>
            <a:ext cx="10585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打造一个</a:t>
            </a:r>
            <a:r>
              <a:rPr lang="en-US" altLang="zh-CN" sz="2400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“</a:t>
            </a:r>
            <a:r>
              <a:rPr lang="zh-CN" altLang="en-US" sz="2400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动态、智能、可交互</a:t>
            </a:r>
            <a:r>
              <a:rPr lang="en-US" altLang="zh-CN" sz="2400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</a:t>
            </a:r>
            <a:r>
              <a:rPr lang="zh-CN" altLang="en-US" sz="2400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的开源项目社交图系统，</a:t>
            </a:r>
            <a:endParaRPr lang="zh-CN" altLang="en-US" sz="2400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r>
              <a:rPr lang="zh-CN" altLang="en-US" sz="2400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让开发者能够快速了解当前开源项目的生态全景，尤其是各项目间的关联。</a:t>
            </a:r>
            <a:endParaRPr lang="zh-CN" altLang="en-US" sz="2400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4" name="Text Placeholder 8"/>
          <p:cNvSpPr/>
          <p:nvPr/>
        </p:nvSpPr>
        <p:spPr>
          <a:xfrm>
            <a:off x="1612900" y="4422775"/>
            <a:ext cx="2987040" cy="2667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ID" altLang="en-US" sz="1400" b="1" dirty="0">
                <a:solidFill>
                  <a:srgbClr val="5DB1FB"/>
                </a:solidFill>
                <a:latin typeface="Original Garamond Std Roman" panose="02010600010101010101" charset="-122"/>
                <a:cs typeface="Original Garamond Std Roman" panose="02010600010101010101" charset="-122"/>
                <a:sym typeface="Original Garamond Std Roman" panose="02010600010101010101" charset="-122"/>
              </a:rPr>
              <a:t>Dynamic Time-Series Filtering</a:t>
            </a:r>
            <a:endParaRPr lang="en-ID" altLang="en-US" sz="1400" b="1" dirty="0">
              <a:solidFill>
                <a:srgbClr val="5DB1FB"/>
              </a:solidFill>
              <a:latin typeface="Original Garamond Std Roman" panose="02010600010101010101" charset="-122"/>
              <a:cs typeface="Original Garamond Std Roman" panose="02010600010101010101" charset="-122"/>
              <a:sym typeface="Original Garamond Std Roman" panose="02010600010101010101" charset="-122"/>
            </a:endParaRPr>
          </a:p>
        </p:txBody>
      </p:sp>
      <p:sp>
        <p:nvSpPr>
          <p:cNvPr id="5" name="Text Placeholder 6"/>
          <p:cNvSpPr/>
          <p:nvPr/>
        </p:nvSpPr>
        <p:spPr>
          <a:xfrm>
            <a:off x="4719955" y="4057650"/>
            <a:ext cx="2522855" cy="2667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Original Garamond Std Roman" panose="02010600010101010101" charset="-122"/>
              </a:rPr>
              <a:t>多维度的关联度算法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等线" panose="02010600030101010101" charset="-122"/>
              <a:ea typeface="等线" panose="02010600030101010101" charset="-122"/>
              <a:cs typeface="Original Garamond Std Roman" panose="02010600010101010101" charset="-122"/>
            </a:endParaRPr>
          </a:p>
        </p:txBody>
      </p:sp>
      <p:sp>
        <p:nvSpPr>
          <p:cNvPr id="6" name="Text Placeholder 7"/>
          <p:cNvSpPr/>
          <p:nvPr/>
        </p:nvSpPr>
        <p:spPr>
          <a:xfrm>
            <a:off x="4897120" y="5069840"/>
            <a:ext cx="2242185" cy="12636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5DB1FB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结合语义、指标与项目间关系，从多维度构建图网络。</a:t>
            </a:r>
            <a:endParaRPr lang="zh-CN" altLang="en-US" sz="2000" b="1" dirty="0">
              <a:solidFill>
                <a:srgbClr val="5DB1FB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7" name="Text Placeholder 8"/>
          <p:cNvSpPr/>
          <p:nvPr/>
        </p:nvSpPr>
        <p:spPr>
          <a:xfrm>
            <a:off x="4856480" y="4422775"/>
            <a:ext cx="2171700" cy="2667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sz="1400" b="1" dirty="0">
                <a:solidFill>
                  <a:srgbClr val="5DB1FB"/>
                </a:solidFill>
                <a:latin typeface="Original Garamond Std Roman" panose="02010600010101010101" charset="-122"/>
                <a:cs typeface="Original Garamond Std Roman" panose="02010600010101010101" charset="-122"/>
                <a:sym typeface="Original Garamond Std Roman" panose="02010600010101010101" charset="-122"/>
              </a:rPr>
              <a:t>Multi-dimensional Correlation Algorithm</a:t>
            </a:r>
            <a:endParaRPr lang="en-US" altLang="zh-CN" sz="1400" b="1" dirty="0">
              <a:solidFill>
                <a:srgbClr val="5DB1FB"/>
              </a:solidFill>
              <a:latin typeface="Original Garamond Std Roman" panose="02010600010101010101" charset="-122"/>
              <a:cs typeface="Original Garamond Std Roman" panose="02010600010101010101" charset="-122"/>
              <a:sym typeface="Original Garamond Std Roman" panose="02010600010101010101" charset="-122"/>
            </a:endParaRPr>
          </a:p>
        </p:txBody>
      </p:sp>
      <p:sp>
        <p:nvSpPr>
          <p:cNvPr id="8" name="Text Placeholder 6"/>
          <p:cNvSpPr/>
          <p:nvPr/>
        </p:nvSpPr>
        <p:spPr>
          <a:xfrm>
            <a:off x="7820660" y="4057333"/>
            <a:ext cx="2176463" cy="2667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Original Garamond Std Roman" panose="02010600010101010101" charset="-122"/>
              </a:rPr>
              <a:t>交互感体验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等线" panose="02010600030101010101" charset="-122"/>
              <a:ea typeface="等线" panose="02010600030101010101" charset="-122"/>
              <a:cs typeface="Original Garamond Std Roman" panose="02010600010101010101" charset="-122"/>
            </a:endParaRPr>
          </a:p>
        </p:txBody>
      </p:sp>
      <p:sp>
        <p:nvSpPr>
          <p:cNvPr id="9" name="Text Placeholder 7"/>
          <p:cNvSpPr/>
          <p:nvPr/>
        </p:nvSpPr>
        <p:spPr>
          <a:xfrm>
            <a:off x="7839075" y="4919345"/>
            <a:ext cx="2242185" cy="85979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5DB1FB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利用</a:t>
            </a:r>
            <a:r>
              <a:rPr lang="en-US" altLang="zh-CN" sz="2000" b="1" dirty="0">
                <a:solidFill>
                  <a:srgbClr val="5DB1FB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EasyGraph </a:t>
            </a:r>
            <a:r>
              <a:rPr lang="zh-CN" altLang="en-US" sz="2000" b="1" dirty="0">
                <a:solidFill>
                  <a:srgbClr val="5DB1FB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高性能渲染，直观向用户展示开源项目关联。</a:t>
            </a:r>
            <a:endParaRPr lang="zh-CN" altLang="en-US" sz="2000" b="1" dirty="0">
              <a:solidFill>
                <a:srgbClr val="5DB1FB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10" name="Text Placeholder 8"/>
          <p:cNvSpPr/>
          <p:nvPr/>
        </p:nvSpPr>
        <p:spPr>
          <a:xfrm>
            <a:off x="7426325" y="4422775"/>
            <a:ext cx="2987040" cy="2667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sz="1400" b="1" dirty="0">
                <a:solidFill>
                  <a:srgbClr val="5DB1FB"/>
                </a:solidFill>
                <a:latin typeface="Original Garamond Std Roman" panose="02010600010101010101" charset="-122"/>
                <a:cs typeface="Original Garamond Std Roman" panose="02010600010101010101" charset="-122"/>
                <a:sym typeface="Original Garamond Std Roman" panose="02010600010101010101" charset="-122"/>
              </a:rPr>
              <a:t>Interactive Experience</a:t>
            </a:r>
            <a:endParaRPr lang="en-US" altLang="zh-CN" sz="1400" b="1" dirty="0">
              <a:solidFill>
                <a:srgbClr val="5DB1FB"/>
              </a:solidFill>
              <a:latin typeface="Original Garamond Std Roman" panose="02010600010101010101" charset="-122"/>
              <a:cs typeface="Original Garamond Std Roman" panose="02010600010101010101" charset="-122"/>
              <a:sym typeface="Original Garamond Std Roman" panose="0201060001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780" y="2328545"/>
            <a:ext cx="1653540" cy="1551305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765" y="2255520"/>
            <a:ext cx="2080260" cy="1619885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7861935" y="2328545"/>
            <a:ext cx="2139950" cy="147066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5" name="Rectangle 4"/>
          <p:cNvSpPr/>
          <p:nvPr/>
        </p:nvSpPr>
        <p:spPr>
          <a:xfrm>
            <a:off x="0" y="0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45080" y="-6985"/>
            <a:ext cx="9681845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7" name="TextBox 1"/>
          <p:cNvSpPr txBox="1"/>
          <p:nvPr/>
        </p:nvSpPr>
        <p:spPr>
          <a:xfrm>
            <a:off x="2435860" y="6413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18" name="TextBox 1"/>
          <p:cNvSpPr txBox="1"/>
          <p:nvPr/>
        </p:nvSpPr>
        <p:spPr>
          <a:xfrm>
            <a:off x="5405755" y="5461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7870190" y="5080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24" name="Picture 68" descr="华东师范大学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28" name="TextBox 1"/>
          <p:cNvSpPr txBox="1"/>
          <p:nvPr/>
        </p:nvSpPr>
        <p:spPr>
          <a:xfrm>
            <a:off x="-111125" y="4953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1"/>
              </a:solidFill>
              <a:latin typeface="+mj-lt"/>
              <a:cs typeface="Active SemiBold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简约科技风科技发展峰会宣传微信公众号封面"/>
          <p:cNvPicPr>
            <a:picLocks noChangeAspect="1"/>
          </p:cNvPicPr>
          <p:nvPr/>
        </p:nvPicPr>
        <p:blipFill>
          <a:blip r:embed="rId1"/>
          <a:srcRect l="22600" r="30119"/>
          <a:stretch>
            <a:fillRect/>
          </a:stretch>
        </p:blipFill>
        <p:spPr>
          <a:xfrm>
            <a:off x="-3644265" y="3881755"/>
            <a:ext cx="8651240" cy="7786370"/>
          </a:xfrm>
          <a:prstGeom prst="rect">
            <a:avLst/>
          </a:prstGeom>
        </p:spPr>
      </p:pic>
      <p:sp>
        <p:nvSpPr>
          <p:cNvPr id="7" name="Freeform: Shape 27"/>
          <p:cNvSpPr/>
          <p:nvPr/>
        </p:nvSpPr>
        <p:spPr>
          <a:xfrm rot="10800000">
            <a:off x="7763799" y="3751174"/>
            <a:ext cx="4574731" cy="3116122"/>
          </a:xfrm>
          <a:custGeom>
            <a:avLst/>
            <a:gdLst>
              <a:gd name="connsiteX0" fmla="*/ 3810 w 5520690"/>
              <a:gd name="connsiteY0" fmla="*/ 0 h 3760471"/>
              <a:gd name="connsiteX1" fmla="*/ 250711 w 5520690"/>
              <a:gd name="connsiteY1" fmla="*/ 0 h 3760471"/>
              <a:gd name="connsiteX2" fmla="*/ 5266169 w 5520690"/>
              <a:gd name="connsiteY2" fmla="*/ 0 h 3760471"/>
              <a:gd name="connsiteX3" fmla="*/ 5520690 w 5520690"/>
              <a:gd name="connsiteY3" fmla="*/ 0 h 3760471"/>
              <a:gd name="connsiteX4" fmla="*/ 5520690 w 5520690"/>
              <a:gd name="connsiteY4" fmla="*/ 2354580 h 3760471"/>
              <a:gd name="connsiteX5" fmla="*/ 5516880 w 5520690"/>
              <a:gd name="connsiteY5" fmla="*/ 2354580 h 3760471"/>
              <a:gd name="connsiteX6" fmla="*/ 5516880 w 5520690"/>
              <a:gd name="connsiteY6" fmla="*/ 3509760 h 3760471"/>
              <a:gd name="connsiteX7" fmla="*/ 5266169 w 5520690"/>
              <a:gd name="connsiteY7" fmla="*/ 3760471 h 3760471"/>
              <a:gd name="connsiteX8" fmla="*/ 250711 w 5520690"/>
              <a:gd name="connsiteY8" fmla="*/ 3760471 h 3760471"/>
              <a:gd name="connsiteX9" fmla="*/ 0 w 5520690"/>
              <a:gd name="connsiteY9" fmla="*/ 3509760 h 3760471"/>
              <a:gd name="connsiteX10" fmla="*/ 0 w 5520690"/>
              <a:gd name="connsiteY10" fmla="*/ 250711 h 3760471"/>
              <a:gd name="connsiteX11" fmla="*/ 3810 w 5520690"/>
              <a:gd name="connsiteY11" fmla="*/ 231839 h 3760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20690" h="3760471">
                <a:moveTo>
                  <a:pt x="3810" y="0"/>
                </a:moveTo>
                <a:lnTo>
                  <a:pt x="250711" y="0"/>
                </a:lnTo>
                <a:lnTo>
                  <a:pt x="5266169" y="0"/>
                </a:lnTo>
                <a:lnTo>
                  <a:pt x="5520690" y="0"/>
                </a:lnTo>
                <a:lnTo>
                  <a:pt x="5520690" y="2354580"/>
                </a:lnTo>
                <a:lnTo>
                  <a:pt x="5516880" y="2354580"/>
                </a:lnTo>
                <a:lnTo>
                  <a:pt x="5516880" y="3509760"/>
                </a:lnTo>
                <a:cubicBezTo>
                  <a:pt x="5516880" y="3648224"/>
                  <a:pt x="5404633" y="3760471"/>
                  <a:pt x="5266169" y="3760471"/>
                </a:cubicBezTo>
                <a:lnTo>
                  <a:pt x="250711" y="3760471"/>
                </a:lnTo>
                <a:cubicBezTo>
                  <a:pt x="112247" y="3760471"/>
                  <a:pt x="0" y="3648224"/>
                  <a:pt x="0" y="3509760"/>
                </a:cubicBezTo>
                <a:lnTo>
                  <a:pt x="0" y="250711"/>
                </a:lnTo>
                <a:lnTo>
                  <a:pt x="3810" y="23183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7917536" y="4010889"/>
            <a:ext cx="4165657" cy="284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9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ctive SemiBold" charset="0"/>
              </a:rPr>
              <a:t>02</a:t>
            </a:r>
            <a:endParaRPr lang="en-US" sz="199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ctive SemiBold" charset="0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628650" y="2808052"/>
            <a:ext cx="6900546" cy="2971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ID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Active SemiBold" charset="0"/>
              </a:rPr>
              <a:t>Te</a:t>
            </a:r>
            <a:r>
              <a:rPr lang="en-ID" dirty="0">
                <a:latin typeface="等线 Light" panose="02010600030101010101" charset="-122"/>
                <a:ea typeface="等线 Light" panose="02010600030101010101" charset="-122"/>
                <a:cs typeface="Active SemiBold" charset="0"/>
                <a:sym typeface="+mn-ea"/>
              </a:rPr>
              <a:t>chnical Architecture </a:t>
            </a:r>
            <a:endParaRPr lang="en-ID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  <a:cs typeface="Active SemiBold" charset="0"/>
            </a:endParaRPr>
          </a:p>
          <a:p>
            <a:pPr>
              <a:lnSpc>
                <a:spcPct val="130000"/>
              </a:lnSpc>
            </a:pPr>
            <a:r>
              <a:rPr lang="en-ID" dirty="0">
                <a:latin typeface="等线 Light" panose="02010600030101010101" charset="-122"/>
                <a:ea typeface="等线 Light" panose="02010600030101010101" charset="-122"/>
                <a:cs typeface="Active SemiBold" charset="0"/>
                <a:sym typeface="+mn-ea"/>
              </a:rPr>
              <a:t>&amp; Core Innovations</a:t>
            </a:r>
            <a:endParaRPr lang="en-ID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  <a:cs typeface="Active SemiBold" charset="0"/>
            </a:endParaRPr>
          </a:p>
          <a:p>
            <a:pPr>
              <a:lnSpc>
                <a:spcPct val="130000"/>
              </a:lnSpc>
            </a:pPr>
            <a:endParaRPr lang="en-ID" dirty="0">
              <a:latin typeface="等线 Light" panose="02010600030101010101" charset="-122"/>
              <a:ea typeface="等线 Light" panose="02010600030101010101" charset="-122"/>
              <a:cs typeface="Active SemiBold" charset="0"/>
            </a:endParaRPr>
          </a:p>
        </p:txBody>
      </p:sp>
      <p:sp>
        <p:nvSpPr>
          <p:cNvPr id="16" name="Rectangle: Rounded Corners 9"/>
          <p:cNvSpPr/>
          <p:nvPr/>
        </p:nvSpPr>
        <p:spPr>
          <a:xfrm>
            <a:off x="706755" y="5797550"/>
            <a:ext cx="2738967" cy="51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0" name="Oval 10"/>
          <p:cNvSpPr/>
          <p:nvPr/>
        </p:nvSpPr>
        <p:spPr>
          <a:xfrm>
            <a:off x="3599459" y="5797550"/>
            <a:ext cx="511175" cy="5111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1" name="任意形状 658"/>
          <p:cNvSpPr/>
          <p:nvPr/>
        </p:nvSpPr>
        <p:spPr>
          <a:xfrm>
            <a:off x="3747163" y="5947900"/>
            <a:ext cx="220000" cy="2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lose/>
                <a:moveTo>
                  <a:pt x="10800" y="19440"/>
                </a:moveTo>
                <a:cubicBezTo>
                  <a:pt x="15572" y="19440"/>
                  <a:pt x="19440" y="15572"/>
                  <a:pt x="19440" y="10800"/>
                </a:cubicBezTo>
                <a:cubicBezTo>
                  <a:pt x="19440" y="6028"/>
                  <a:pt x="15572" y="2160"/>
                  <a:pt x="10800" y="2160"/>
                </a:cubicBezTo>
                <a:cubicBezTo>
                  <a:pt x="6028" y="2160"/>
                  <a:pt x="2160" y="6028"/>
                  <a:pt x="2160" y="10800"/>
                </a:cubicBezTo>
                <a:cubicBezTo>
                  <a:pt x="2160" y="15572"/>
                  <a:pt x="6028" y="19440"/>
                  <a:pt x="10800" y="19440"/>
                </a:cubicBezTo>
                <a:close/>
                <a:moveTo>
                  <a:pt x="9720" y="15120"/>
                </a:moveTo>
                <a:lnTo>
                  <a:pt x="6480" y="15120"/>
                </a:lnTo>
                <a:lnTo>
                  <a:pt x="6480" y="6480"/>
                </a:lnTo>
                <a:lnTo>
                  <a:pt x="9720" y="6480"/>
                </a:lnTo>
                <a:lnTo>
                  <a:pt x="9720" y="4320"/>
                </a:lnTo>
                <a:lnTo>
                  <a:pt x="11880" y="4320"/>
                </a:lnTo>
                <a:lnTo>
                  <a:pt x="11880" y="6480"/>
                </a:lnTo>
                <a:lnTo>
                  <a:pt x="12960" y="6480"/>
                </a:lnTo>
                <a:cubicBezTo>
                  <a:pt x="14451" y="6480"/>
                  <a:pt x="15660" y="7689"/>
                  <a:pt x="15660" y="9180"/>
                </a:cubicBezTo>
                <a:cubicBezTo>
                  <a:pt x="15660" y="9764"/>
                  <a:pt x="15470" y="10333"/>
                  <a:pt x="15120" y="10800"/>
                </a:cubicBezTo>
                <a:cubicBezTo>
                  <a:pt x="16015" y="11993"/>
                  <a:pt x="15773" y="13685"/>
                  <a:pt x="14580" y="14580"/>
                </a:cubicBezTo>
                <a:cubicBezTo>
                  <a:pt x="14113" y="14931"/>
                  <a:pt x="13544" y="15120"/>
                  <a:pt x="12960" y="15120"/>
                </a:cubicBezTo>
                <a:lnTo>
                  <a:pt x="11880" y="15120"/>
                </a:lnTo>
                <a:lnTo>
                  <a:pt x="11880" y="17280"/>
                </a:lnTo>
                <a:lnTo>
                  <a:pt x="9720" y="17280"/>
                </a:lnTo>
                <a:lnTo>
                  <a:pt x="9720" y="15120"/>
                </a:lnTo>
                <a:close/>
                <a:moveTo>
                  <a:pt x="8640" y="11880"/>
                </a:moveTo>
                <a:lnTo>
                  <a:pt x="8640" y="12960"/>
                </a:lnTo>
                <a:lnTo>
                  <a:pt x="12960" y="12960"/>
                </a:lnTo>
                <a:cubicBezTo>
                  <a:pt x="13258" y="12960"/>
                  <a:pt x="13500" y="12718"/>
                  <a:pt x="13500" y="12420"/>
                </a:cubicBezTo>
                <a:cubicBezTo>
                  <a:pt x="13500" y="12122"/>
                  <a:pt x="13258" y="11880"/>
                  <a:pt x="12960" y="11880"/>
                </a:cubicBezTo>
                <a:lnTo>
                  <a:pt x="8640" y="11880"/>
                </a:lnTo>
                <a:close/>
                <a:moveTo>
                  <a:pt x="8640" y="8640"/>
                </a:moveTo>
                <a:lnTo>
                  <a:pt x="8640" y="9720"/>
                </a:lnTo>
                <a:lnTo>
                  <a:pt x="12960" y="9720"/>
                </a:lnTo>
                <a:cubicBezTo>
                  <a:pt x="13258" y="9720"/>
                  <a:pt x="13500" y="9478"/>
                  <a:pt x="13500" y="9180"/>
                </a:cubicBezTo>
                <a:cubicBezTo>
                  <a:pt x="13500" y="8882"/>
                  <a:pt x="13258" y="8640"/>
                  <a:pt x="12960" y="8640"/>
                </a:cubicBezTo>
                <a:lnTo>
                  <a:pt x="8640" y="864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2" name="TextBox 12"/>
          <p:cNvSpPr txBox="1"/>
          <p:nvPr/>
        </p:nvSpPr>
        <p:spPr>
          <a:xfrm>
            <a:off x="854907" y="5909572"/>
            <a:ext cx="2442662" cy="28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/>
            <a:r>
              <a:rPr lang="en-US" altLang="en-ID" sz="1400" dirty="0">
                <a:solidFill>
                  <a:schemeClr val="accent1"/>
                </a:solidFill>
              </a:rPr>
              <a:t>Part 2</a:t>
            </a:r>
            <a:endParaRPr lang="en-US" altLang="en-ID" sz="1400" dirty="0">
              <a:solidFill>
                <a:schemeClr val="accent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24230" y="1465580"/>
            <a:ext cx="836104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dirty="0">
                <a:solidFill>
                  <a:schemeClr val="accent1"/>
                </a:solidFill>
                <a:latin typeface="方正大标宋简体" panose="02000000000000000000" charset="-122"/>
                <a:ea typeface="方正大标宋简体" panose="02000000000000000000" charset="-122"/>
                <a:sym typeface="+mn-ea"/>
              </a:rPr>
              <a:t>技术架构与核心创新</a:t>
            </a:r>
            <a:endParaRPr lang="zh-CN" altLang="en-US" sz="6600" dirty="0">
              <a:solidFill>
                <a:schemeClr val="accent1"/>
              </a:solidFill>
              <a:latin typeface="方正大标宋简体" panose="02000000000000000000" charset="-122"/>
              <a:ea typeface="方正大标宋简体" panose="02000000000000000000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254571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pic>
        <p:nvPicPr>
          <p:cNvPr id="4" name="图片 3" descr="蓝色简约科技风科技发展峰会宣传微信公众号封面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495" y="233680"/>
            <a:ext cx="8572500" cy="3648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254571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pic>
        <p:nvPicPr>
          <p:cNvPr id="10" name="图片 9" descr="Data Acquisition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" y="680720"/>
            <a:ext cx="12061825" cy="6784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254571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06980" y="1805940"/>
            <a:ext cx="459740" cy="368300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p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0220" y="991870"/>
            <a:ext cx="1014095" cy="517207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/>
            <a:r>
              <a:rPr lang="zh-CN" altLang="en-US" sz="4000">
                <a:latin typeface="WPS灵秀黑" charset="-122"/>
                <a:ea typeface="WPS灵秀黑" charset="-122"/>
              </a:rPr>
              <a:t>数据分层采集</a:t>
            </a:r>
            <a:r>
              <a:rPr lang="zh-CN" altLang="en-US" sz="4000">
                <a:latin typeface="WPS灵秀黑" charset="-122"/>
                <a:ea typeface="WPS灵秀黑" charset="-122"/>
              </a:rPr>
              <a:t>技术思路</a:t>
            </a:r>
            <a:endParaRPr lang="zh-CN" altLang="en-US" sz="4000">
              <a:latin typeface="WPS灵秀黑" charset="-122"/>
              <a:ea typeface="WPS灵秀黑" charset="-122"/>
            </a:endParaRPr>
          </a:p>
        </p:txBody>
      </p:sp>
      <p:sp>
        <p:nvSpPr>
          <p:cNvPr id="15" name="Freeform: Shape 14"/>
          <p:cNvSpPr/>
          <p:nvPr/>
        </p:nvSpPr>
        <p:spPr>
          <a:xfrm rot="10800000">
            <a:off x="-143037" y="1086161"/>
            <a:ext cx="2279514" cy="4526604"/>
          </a:xfrm>
          <a:custGeom>
            <a:avLst/>
            <a:gdLst>
              <a:gd name="connsiteX0" fmla="*/ 2263302 w 2279514"/>
              <a:gd name="connsiteY0" fmla="*/ 0 h 4526604"/>
              <a:gd name="connsiteX1" fmla="*/ 2279514 w 2279514"/>
              <a:gd name="connsiteY1" fmla="*/ 819 h 4526604"/>
              <a:gd name="connsiteX2" fmla="*/ 2279514 w 2279514"/>
              <a:gd name="connsiteY2" fmla="*/ 4525786 h 4526604"/>
              <a:gd name="connsiteX3" fmla="*/ 2263302 w 2279514"/>
              <a:gd name="connsiteY3" fmla="*/ 4526604 h 4526604"/>
              <a:gd name="connsiteX4" fmla="*/ 0 w 2279514"/>
              <a:gd name="connsiteY4" fmla="*/ 2263302 h 4526604"/>
              <a:gd name="connsiteX5" fmla="*/ 2263302 w 2279514"/>
              <a:gd name="connsiteY5" fmla="*/ 0 h 45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9514" h="4526604">
                <a:moveTo>
                  <a:pt x="2263302" y="0"/>
                </a:moveTo>
                <a:lnTo>
                  <a:pt x="2279514" y="819"/>
                </a:lnTo>
                <a:lnTo>
                  <a:pt x="2279514" y="4525786"/>
                </a:lnTo>
                <a:lnTo>
                  <a:pt x="2263302" y="4526604"/>
                </a:lnTo>
                <a:cubicBezTo>
                  <a:pt x="1013315" y="4526604"/>
                  <a:pt x="0" y="3513289"/>
                  <a:pt x="0" y="2263302"/>
                </a:cubicBezTo>
                <a:cubicBezTo>
                  <a:pt x="0" y="1013315"/>
                  <a:pt x="1013315" y="0"/>
                  <a:pt x="2263302" y="0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pic>
        <p:nvPicPr>
          <p:cNvPr id="4" name="图片 3" descr="Data Acquisition (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25" y="3112135"/>
            <a:ext cx="5981700" cy="33648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98370" y="858520"/>
            <a:ext cx="9067800" cy="5492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　　数据拉取技术路线以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“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双源融合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+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分层差异化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为核心，通过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OpenDigger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官方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Top300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历史行为数据与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2023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年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3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月后全量仓库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+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冷门仓库的自建语义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/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实时数据协同，先调用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OpenDigger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批量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API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拉取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repo_id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、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Star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数等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5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个极简静态字段，基于初版优先度（仅基础分）完成核心层（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≥8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分）、普通层（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5~8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分）、轻量层（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&lt;5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分）分层，再针对核心层全量拉取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20 +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字段（含时序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/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关联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/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语义数据）、普通层拉取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8 +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核心字段、轻量层仅保留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3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个基础字段，</a:t>
            </a:r>
            <a:endParaRPr lang="zh-CN" altLang="en-US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结合多线程批量调用、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IoTDB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时序压缩、</a:t>
            </a:r>
            <a:endParaRPr lang="zh-CN" altLang="en-US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Redis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缓存优化拉取效率，通过失败重试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+ </a:t>
            </a:r>
            <a:endParaRPr lang="en-US" altLang="zh-CN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降级拉取保障数据完整性，同步补充隐性</a:t>
            </a:r>
            <a:endParaRPr lang="zh-CN" altLang="en-US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关联边与语义关联边增强数据价值，</a:t>
            </a:r>
            <a:endParaRPr lang="zh-CN" altLang="en-US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最终输出分层数据集支撑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优先度</a:t>
            </a:r>
            <a:endParaRPr lang="zh-CN" altLang="en-US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计算与可视化，</a:t>
            </a:r>
            <a:endParaRPr lang="zh-CN" altLang="en-US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后续通过每日增量、每月关系更新、季度语义更新实现动态维护。</a:t>
            </a:r>
            <a:endParaRPr lang="zh-CN" altLang="en-US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254571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pic>
        <p:nvPicPr>
          <p:cNvPr id="2" name="图片 1" descr="Data Acquisition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361950"/>
            <a:ext cx="10939145" cy="61537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06980" y="1805940"/>
            <a:ext cx="459740" cy="368300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p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655" y="991870"/>
            <a:ext cx="1014095" cy="517207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/>
            <a:r>
              <a:rPr lang="zh-CN" altLang="en-US" sz="4000">
                <a:latin typeface="WPS灵秀黑" charset="-122"/>
                <a:ea typeface="WPS灵秀黑" charset="-122"/>
              </a:rPr>
              <a:t>多维动态权重优先度</a:t>
            </a:r>
            <a:endParaRPr lang="zh-CN" altLang="en-US" sz="4000">
              <a:latin typeface="WPS灵秀黑" charset="-122"/>
              <a:ea typeface="WPS灵秀黑" charset="-122"/>
            </a:endParaRPr>
          </a:p>
          <a:p>
            <a:pPr algn="ctr"/>
            <a:r>
              <a:rPr lang="zh-CN" altLang="en-US" sz="4000">
                <a:latin typeface="WPS灵秀黑" charset="-122"/>
                <a:ea typeface="WPS灵秀黑" charset="-122"/>
              </a:rPr>
              <a:t>算法模型</a:t>
            </a:r>
            <a:endParaRPr lang="zh-CN" altLang="en-US" sz="4000">
              <a:latin typeface="WPS灵秀黑" charset="-122"/>
              <a:ea typeface="WPS灵秀黑" charset="-122"/>
            </a:endParaRPr>
          </a:p>
        </p:txBody>
      </p:sp>
      <p:sp>
        <p:nvSpPr>
          <p:cNvPr id="15" name="Freeform: Shape 14"/>
          <p:cNvSpPr/>
          <p:nvPr/>
        </p:nvSpPr>
        <p:spPr>
          <a:xfrm rot="10800000">
            <a:off x="-143037" y="1086161"/>
            <a:ext cx="2279514" cy="4526604"/>
          </a:xfrm>
          <a:custGeom>
            <a:avLst/>
            <a:gdLst>
              <a:gd name="connsiteX0" fmla="*/ 2263302 w 2279514"/>
              <a:gd name="connsiteY0" fmla="*/ 0 h 4526604"/>
              <a:gd name="connsiteX1" fmla="*/ 2279514 w 2279514"/>
              <a:gd name="connsiteY1" fmla="*/ 819 h 4526604"/>
              <a:gd name="connsiteX2" fmla="*/ 2279514 w 2279514"/>
              <a:gd name="connsiteY2" fmla="*/ 4525786 h 4526604"/>
              <a:gd name="connsiteX3" fmla="*/ 2263302 w 2279514"/>
              <a:gd name="connsiteY3" fmla="*/ 4526604 h 4526604"/>
              <a:gd name="connsiteX4" fmla="*/ 0 w 2279514"/>
              <a:gd name="connsiteY4" fmla="*/ 2263302 h 4526604"/>
              <a:gd name="connsiteX5" fmla="*/ 2263302 w 2279514"/>
              <a:gd name="connsiteY5" fmla="*/ 0 h 45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9514" h="4526604">
                <a:moveTo>
                  <a:pt x="2263302" y="0"/>
                </a:moveTo>
                <a:lnTo>
                  <a:pt x="2279514" y="819"/>
                </a:lnTo>
                <a:lnTo>
                  <a:pt x="2279514" y="4525786"/>
                </a:lnTo>
                <a:lnTo>
                  <a:pt x="2263302" y="4526604"/>
                </a:lnTo>
                <a:cubicBezTo>
                  <a:pt x="1013315" y="4526604"/>
                  <a:pt x="0" y="3513289"/>
                  <a:pt x="0" y="2263302"/>
                </a:cubicBezTo>
                <a:cubicBezTo>
                  <a:pt x="0" y="1013315"/>
                  <a:pt x="1013315" y="0"/>
                  <a:pt x="2263302" y="0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254571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06980" y="1805940"/>
            <a:ext cx="459740" cy="368300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p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655" y="991870"/>
            <a:ext cx="1014095" cy="517207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/>
            <a:r>
              <a:rPr lang="zh-CN" altLang="en-US" sz="4000">
                <a:latin typeface="WPS灵秀黑" charset="-122"/>
                <a:ea typeface="WPS灵秀黑" charset="-122"/>
              </a:rPr>
              <a:t>多维动态</a:t>
            </a:r>
            <a:r>
              <a:rPr lang="zh-CN" altLang="en-US" sz="4000">
                <a:latin typeface="WPS灵秀黑" charset="-122"/>
                <a:ea typeface="WPS灵秀黑" charset="-122"/>
              </a:rPr>
              <a:t>关联度</a:t>
            </a:r>
            <a:endParaRPr lang="zh-CN" altLang="en-US" sz="4000">
              <a:latin typeface="WPS灵秀黑" charset="-122"/>
              <a:ea typeface="WPS灵秀黑" charset="-122"/>
            </a:endParaRPr>
          </a:p>
          <a:p>
            <a:pPr algn="ctr"/>
            <a:r>
              <a:rPr lang="zh-CN" altLang="en-US" sz="4000">
                <a:latin typeface="WPS灵秀黑" charset="-122"/>
                <a:ea typeface="WPS灵秀黑" charset="-122"/>
              </a:rPr>
              <a:t>算法模型</a:t>
            </a:r>
            <a:endParaRPr lang="zh-CN" altLang="en-US" sz="4000">
              <a:latin typeface="WPS灵秀黑" charset="-122"/>
              <a:ea typeface="WPS灵秀黑" charset="-122"/>
            </a:endParaRPr>
          </a:p>
        </p:txBody>
      </p:sp>
      <p:sp>
        <p:nvSpPr>
          <p:cNvPr id="15" name="Freeform: Shape 14"/>
          <p:cNvSpPr/>
          <p:nvPr/>
        </p:nvSpPr>
        <p:spPr>
          <a:xfrm rot="10800000">
            <a:off x="-143037" y="1086161"/>
            <a:ext cx="2279514" cy="4526604"/>
          </a:xfrm>
          <a:custGeom>
            <a:avLst/>
            <a:gdLst>
              <a:gd name="connsiteX0" fmla="*/ 2263302 w 2279514"/>
              <a:gd name="connsiteY0" fmla="*/ 0 h 4526604"/>
              <a:gd name="connsiteX1" fmla="*/ 2279514 w 2279514"/>
              <a:gd name="connsiteY1" fmla="*/ 819 h 4526604"/>
              <a:gd name="connsiteX2" fmla="*/ 2279514 w 2279514"/>
              <a:gd name="connsiteY2" fmla="*/ 4525786 h 4526604"/>
              <a:gd name="connsiteX3" fmla="*/ 2263302 w 2279514"/>
              <a:gd name="connsiteY3" fmla="*/ 4526604 h 4526604"/>
              <a:gd name="connsiteX4" fmla="*/ 0 w 2279514"/>
              <a:gd name="connsiteY4" fmla="*/ 2263302 h 4526604"/>
              <a:gd name="connsiteX5" fmla="*/ 2263302 w 2279514"/>
              <a:gd name="connsiteY5" fmla="*/ 0 h 45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9514" h="4526604">
                <a:moveTo>
                  <a:pt x="2263302" y="0"/>
                </a:moveTo>
                <a:lnTo>
                  <a:pt x="2279514" y="819"/>
                </a:lnTo>
                <a:lnTo>
                  <a:pt x="2279514" y="4525786"/>
                </a:lnTo>
                <a:lnTo>
                  <a:pt x="2263302" y="4526604"/>
                </a:lnTo>
                <a:cubicBezTo>
                  <a:pt x="1013315" y="4526604"/>
                  <a:pt x="0" y="3513289"/>
                  <a:pt x="0" y="2263302"/>
                </a:cubicBezTo>
                <a:cubicBezTo>
                  <a:pt x="0" y="1013315"/>
                  <a:pt x="1013315" y="0"/>
                  <a:pt x="2263302" y="0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pic>
        <p:nvPicPr>
          <p:cNvPr id="4" name="图片 3" descr="Data Acquisition (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980" y="991870"/>
            <a:ext cx="9329420" cy="5247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/>
          <p:cNvSpPr/>
          <p:nvPr/>
        </p:nvSpPr>
        <p:spPr>
          <a:xfrm>
            <a:off x="1794510" y="531495"/>
            <a:ext cx="8618220" cy="959485"/>
          </a:xfrm>
          <a:custGeom>
            <a:avLst/>
            <a:gdLst>
              <a:gd name="connsiteX0" fmla="*/ 0 w 8618220"/>
              <a:gd name="connsiteY0" fmla="*/ 0 h 3097530"/>
              <a:gd name="connsiteX1" fmla="*/ 206512 w 8618220"/>
              <a:gd name="connsiteY1" fmla="*/ 0 h 3097530"/>
              <a:gd name="connsiteX2" fmla="*/ 8411708 w 8618220"/>
              <a:gd name="connsiteY2" fmla="*/ 0 h 3097530"/>
              <a:gd name="connsiteX3" fmla="*/ 8618220 w 8618220"/>
              <a:gd name="connsiteY3" fmla="*/ 0 h 3097530"/>
              <a:gd name="connsiteX4" fmla="*/ 8618220 w 8618220"/>
              <a:gd name="connsiteY4" fmla="*/ 206512 h 3097530"/>
              <a:gd name="connsiteX5" fmla="*/ 8618220 w 8618220"/>
              <a:gd name="connsiteY5" fmla="*/ 1611630 h 3097530"/>
              <a:gd name="connsiteX6" fmla="*/ 8618220 w 8618220"/>
              <a:gd name="connsiteY6" fmla="*/ 2891018 h 3097530"/>
              <a:gd name="connsiteX7" fmla="*/ 8411708 w 8618220"/>
              <a:gd name="connsiteY7" fmla="*/ 3097530 h 3097530"/>
              <a:gd name="connsiteX8" fmla="*/ 206512 w 8618220"/>
              <a:gd name="connsiteY8" fmla="*/ 3097530 h 3097530"/>
              <a:gd name="connsiteX9" fmla="*/ 0 w 8618220"/>
              <a:gd name="connsiteY9" fmla="*/ 2891018 h 3097530"/>
              <a:gd name="connsiteX10" fmla="*/ 0 w 8618220"/>
              <a:gd name="connsiteY10" fmla="*/ 1611630 h 3097530"/>
              <a:gd name="connsiteX11" fmla="*/ 0 w 8618220"/>
              <a:gd name="connsiteY11" fmla="*/ 206512 h 309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18220" h="3097530">
                <a:moveTo>
                  <a:pt x="0" y="0"/>
                </a:moveTo>
                <a:lnTo>
                  <a:pt x="206512" y="0"/>
                </a:lnTo>
                <a:lnTo>
                  <a:pt x="8411708" y="0"/>
                </a:lnTo>
                <a:lnTo>
                  <a:pt x="8618220" y="0"/>
                </a:lnTo>
                <a:lnTo>
                  <a:pt x="8618220" y="206512"/>
                </a:lnTo>
                <a:lnTo>
                  <a:pt x="8618220" y="1611630"/>
                </a:lnTo>
                <a:lnTo>
                  <a:pt x="8618220" y="2891018"/>
                </a:lnTo>
                <a:cubicBezTo>
                  <a:pt x="8618220" y="3005071"/>
                  <a:pt x="8525761" y="3097530"/>
                  <a:pt x="8411708" y="3097530"/>
                </a:cubicBezTo>
                <a:lnTo>
                  <a:pt x="206512" y="3097530"/>
                </a:lnTo>
                <a:cubicBezTo>
                  <a:pt x="92459" y="3097530"/>
                  <a:pt x="0" y="3005071"/>
                  <a:pt x="0" y="2891018"/>
                </a:cubicBezTo>
                <a:lnTo>
                  <a:pt x="0" y="1611630"/>
                </a:lnTo>
                <a:lnTo>
                  <a:pt x="0" y="206512"/>
                </a:lnTo>
                <a:close/>
              </a:path>
            </a:pathLst>
          </a:custGeom>
          <a:solidFill>
            <a:srgbClr val="DFED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solidFill>
                <a:schemeClr val="accent2"/>
              </a:solidFill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7" name="Rectangle: Rounded Corners 6"/>
          <p:cNvSpPr/>
          <p:nvPr>
            <p:custDataLst>
              <p:tags r:id="rId1"/>
            </p:custDataLst>
          </p:nvPr>
        </p:nvSpPr>
        <p:spPr>
          <a:xfrm>
            <a:off x="694690" y="2037080"/>
            <a:ext cx="3159125" cy="4336415"/>
          </a:xfrm>
          <a:prstGeom prst="roundRect">
            <a:avLst>
              <a:gd name="adj" fmla="val 967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8" name="Rectangle: Rounded Corners 7"/>
          <p:cNvSpPr/>
          <p:nvPr>
            <p:custDataLst>
              <p:tags r:id="rId2"/>
            </p:custDataLst>
          </p:nvPr>
        </p:nvSpPr>
        <p:spPr>
          <a:xfrm>
            <a:off x="4523740" y="2037080"/>
            <a:ext cx="3159125" cy="4336415"/>
          </a:xfrm>
          <a:prstGeom prst="roundRect">
            <a:avLst>
              <a:gd name="adj" fmla="val 967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44" name="圆角矩形 43"/>
          <p:cNvSpPr/>
          <p:nvPr>
            <p:custDataLst>
              <p:tags r:id="rId3"/>
            </p:custDataLst>
          </p:nvPr>
        </p:nvSpPr>
        <p:spPr>
          <a:xfrm>
            <a:off x="793115" y="2136775"/>
            <a:ext cx="2943860" cy="1169035"/>
          </a:xfrm>
          <a:prstGeom prst="round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9" name="Rectangle: Rounded Corners 8"/>
          <p:cNvSpPr/>
          <p:nvPr>
            <p:custDataLst>
              <p:tags r:id="rId4"/>
            </p:custDataLst>
          </p:nvPr>
        </p:nvSpPr>
        <p:spPr>
          <a:xfrm>
            <a:off x="8336915" y="2037080"/>
            <a:ext cx="3159125" cy="4336415"/>
          </a:xfrm>
          <a:prstGeom prst="roundRect">
            <a:avLst>
              <a:gd name="adj" fmla="val 967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48" name="圆角矩形 47"/>
          <p:cNvSpPr/>
          <p:nvPr>
            <p:custDataLst>
              <p:tags r:id="rId5"/>
            </p:custDataLst>
          </p:nvPr>
        </p:nvSpPr>
        <p:spPr>
          <a:xfrm>
            <a:off x="4636135" y="2132330"/>
            <a:ext cx="2943860" cy="1169035"/>
          </a:xfrm>
          <a:prstGeom prst="round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52" name="圆角矩形 51"/>
          <p:cNvSpPr/>
          <p:nvPr>
            <p:custDataLst>
              <p:tags r:id="rId6"/>
            </p:custDataLst>
          </p:nvPr>
        </p:nvSpPr>
        <p:spPr>
          <a:xfrm>
            <a:off x="8446135" y="2118360"/>
            <a:ext cx="2943860" cy="1169035"/>
          </a:xfrm>
          <a:prstGeom prst="round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06470" y="681356"/>
            <a:ext cx="512064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54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r>
              <a:rPr lang="zh-CN" altLang="en-ID" sz="4800" b="0" dirty="0">
                <a:latin typeface="WPS灵秀黑" charset="-122"/>
                <a:ea typeface="WPS灵秀黑" charset="-122"/>
                <a:cs typeface="Active SemiBold" charset="0"/>
              </a:rPr>
              <a:t>核心创新点</a:t>
            </a:r>
            <a:endParaRPr lang="zh-CN" altLang="en-ID" sz="4800" b="0" dirty="0">
              <a:latin typeface="WPS灵秀黑" charset="-122"/>
              <a:ea typeface="WPS灵秀黑" charset="-122"/>
              <a:cs typeface="Active SemiBold" charset="0"/>
            </a:endParaRPr>
          </a:p>
        </p:txBody>
      </p:sp>
      <p:sp>
        <p:nvSpPr>
          <p:cNvPr id="16" name="Oval 15"/>
          <p:cNvSpPr/>
          <p:nvPr>
            <p:custDataLst>
              <p:tags r:id="rId7"/>
            </p:custDataLst>
          </p:nvPr>
        </p:nvSpPr>
        <p:spPr>
          <a:xfrm>
            <a:off x="4249116" y="1762755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5" name="Oval 14"/>
          <p:cNvSpPr/>
          <p:nvPr>
            <p:custDataLst>
              <p:tags r:id="rId8"/>
            </p:custDataLst>
          </p:nvPr>
        </p:nvSpPr>
        <p:spPr>
          <a:xfrm>
            <a:off x="420371" y="1762755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7" name="Oval 16"/>
          <p:cNvSpPr/>
          <p:nvPr>
            <p:custDataLst>
              <p:tags r:id="rId9"/>
            </p:custDataLst>
          </p:nvPr>
        </p:nvSpPr>
        <p:spPr>
          <a:xfrm>
            <a:off x="8077861" y="1762755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0"/>
            </p:custDataLst>
          </p:nvPr>
        </p:nvSpPr>
        <p:spPr>
          <a:xfrm>
            <a:off x="1217571" y="3428995"/>
            <a:ext cx="214635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创新方案：</a:t>
            </a:r>
            <a:endParaRPr lang="zh-CN" altLang="en-US" sz="18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基于</a:t>
            </a:r>
            <a:r>
              <a:rPr lang="en-US" altLang="zh-CN" sz="1800" dirty="0">
                <a:solidFill>
                  <a:schemeClr val="accent1"/>
                </a:solidFill>
              </a:rPr>
              <a:t> IoTDB </a:t>
            </a:r>
            <a:r>
              <a:rPr lang="zh-CN" altLang="en-US" sz="1800" dirty="0">
                <a:solidFill>
                  <a:schemeClr val="accent1"/>
                </a:solidFill>
              </a:rPr>
              <a:t>的</a:t>
            </a:r>
            <a:endParaRPr lang="zh-CN" altLang="en-US" sz="18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动态时序筛选</a:t>
            </a:r>
            <a:endParaRPr lang="zh-CN" altLang="en-US" sz="1800" dirty="0">
              <a:solidFill>
                <a:schemeClr val="accent1"/>
              </a:solidFill>
            </a:endParaRPr>
          </a:p>
        </p:txBody>
      </p:sp>
      <p:sp>
        <p:nvSpPr>
          <p:cNvPr id="25" name="TextBox 24"/>
          <p:cNvSpPr txBox="1"/>
          <p:nvPr>
            <p:custDataLst>
              <p:tags r:id="rId11"/>
            </p:custDataLst>
          </p:nvPr>
        </p:nvSpPr>
        <p:spPr>
          <a:xfrm>
            <a:off x="4304425" y="1865682"/>
            <a:ext cx="438021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>
              <a:buClrTx/>
              <a:buSzTx/>
              <a:buFontTx/>
            </a:pPr>
            <a:r>
              <a:rPr lang="en-US" altLang="en-ID" sz="2400" dirty="0">
                <a:solidFill>
                  <a:schemeClr val="accent1"/>
                </a:solidFill>
              </a:rPr>
              <a:t>2</a:t>
            </a:r>
            <a:endParaRPr lang="en-US" altLang="en-ID" sz="2400" dirty="0">
              <a:solidFill>
                <a:schemeClr val="accent1"/>
              </a:solidFill>
            </a:endParaRPr>
          </a:p>
        </p:txBody>
      </p:sp>
      <p:sp>
        <p:nvSpPr>
          <p:cNvPr id="26" name="TextBox 25"/>
          <p:cNvSpPr txBox="1"/>
          <p:nvPr>
            <p:custDataLst>
              <p:tags r:id="rId12"/>
            </p:custDataLst>
          </p:nvPr>
        </p:nvSpPr>
        <p:spPr>
          <a:xfrm>
            <a:off x="8133170" y="1865682"/>
            <a:ext cx="438021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>
              <a:buClrTx/>
              <a:buSzTx/>
              <a:buFontTx/>
            </a:pPr>
            <a:r>
              <a:rPr lang="en-US" altLang="en-ID" sz="2400" dirty="0">
                <a:solidFill>
                  <a:schemeClr val="accent1"/>
                </a:solidFill>
              </a:rPr>
              <a:t>3</a:t>
            </a:r>
            <a:endParaRPr lang="en-US" altLang="en-ID" sz="2400" dirty="0">
              <a:solidFill>
                <a:schemeClr val="accent1"/>
              </a:solidFill>
            </a:endParaRPr>
          </a:p>
        </p:txBody>
      </p:sp>
      <p:sp>
        <p:nvSpPr>
          <p:cNvPr id="27" name="TextBox 26"/>
          <p:cNvSpPr txBox="1"/>
          <p:nvPr>
            <p:custDataLst>
              <p:tags r:id="rId13"/>
            </p:custDataLst>
          </p:nvPr>
        </p:nvSpPr>
        <p:spPr>
          <a:xfrm>
            <a:off x="475679" y="1865682"/>
            <a:ext cx="438021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/>
            <a:r>
              <a:rPr lang="en-US" altLang="en-ID" sz="2400" dirty="0">
                <a:solidFill>
                  <a:schemeClr val="accent1"/>
                </a:solidFill>
              </a:rPr>
              <a:t>1</a:t>
            </a:r>
            <a:endParaRPr lang="en-US" altLang="en-ID" sz="2400" dirty="0">
              <a:solidFill>
                <a:schemeClr val="accent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1" name="Rectangle 4"/>
          <p:cNvSpPr/>
          <p:nvPr/>
        </p:nvSpPr>
        <p:spPr>
          <a:xfrm>
            <a:off x="254571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1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22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36" name="Picture 68" descr="华东师范大学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37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38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45" name="TextBox 22"/>
          <p:cNvSpPr txBox="1"/>
          <p:nvPr>
            <p:custDataLst>
              <p:tags r:id="rId15"/>
            </p:custDataLst>
          </p:nvPr>
        </p:nvSpPr>
        <p:spPr>
          <a:xfrm>
            <a:off x="763905" y="2307590"/>
            <a:ext cx="3042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传统方案：</a:t>
            </a:r>
            <a:endParaRPr lang="zh-CN" altLang="en-US" sz="18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仅依赖静态筛选</a:t>
            </a:r>
            <a:endParaRPr lang="zh-CN" altLang="en-US" sz="18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Stars/Forks/OpenRank</a:t>
            </a:r>
            <a:r>
              <a:rPr lang="zh-CN" altLang="en-US" sz="1800" dirty="0">
                <a:solidFill>
                  <a:schemeClr val="accent1"/>
                </a:solidFill>
              </a:rPr>
              <a:t>分</a:t>
            </a:r>
            <a:endParaRPr lang="zh-CN" altLang="en-US" sz="18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6"/>
            </p:custDataLst>
          </p:nvPr>
        </p:nvSpPr>
        <p:spPr>
          <a:xfrm>
            <a:off x="908050" y="4425315"/>
            <a:ext cx="2778125" cy="161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融合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OpenRank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增长斜率与活跃度斜率，引入</a:t>
            </a:r>
            <a:r>
              <a:rPr lang="zh-CN" altLang="en-US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趋势优先度双维度模型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，用 </a:t>
            </a:r>
            <a:r>
              <a:rPr lang="zh-CN" altLang="en-US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IoTDB 时序能力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实现 “趋势可计算、潜力可量化”。</a:t>
            </a:r>
            <a:endParaRPr lang="en-US" altLang="zh-CN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47" name="TextBox 22"/>
          <p:cNvSpPr txBox="1"/>
          <p:nvPr>
            <p:custDataLst>
              <p:tags r:id="rId17"/>
            </p:custDataLst>
          </p:nvPr>
        </p:nvSpPr>
        <p:spPr>
          <a:xfrm>
            <a:off x="4890135" y="3445510"/>
            <a:ext cx="242062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创新方案：</a:t>
            </a:r>
            <a:endParaRPr lang="zh-CN" altLang="en-US" sz="1800" dirty="0">
              <a:solidFill>
                <a:schemeClr val="accent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多维度的关联度算法</a:t>
            </a:r>
            <a:endParaRPr lang="zh-CN" altLang="en-US" sz="1800" dirty="0">
              <a:solidFill>
                <a:schemeClr val="accent1"/>
              </a:solidFill>
            </a:endParaRPr>
          </a:p>
        </p:txBody>
      </p:sp>
      <p:sp>
        <p:nvSpPr>
          <p:cNvPr id="49" name="TextBox 22"/>
          <p:cNvSpPr txBox="1"/>
          <p:nvPr>
            <p:custDataLst>
              <p:tags r:id="rId18"/>
            </p:custDataLst>
          </p:nvPr>
        </p:nvSpPr>
        <p:spPr>
          <a:xfrm>
            <a:off x="4606925" y="2303145"/>
            <a:ext cx="3042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传统方案：</a:t>
            </a:r>
            <a:endParaRPr lang="zh-CN" altLang="en-US" sz="18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仅依赖</a:t>
            </a:r>
            <a:r>
              <a:rPr lang="en-US" altLang="zh-CN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“</a:t>
            </a:r>
            <a:r>
              <a:rPr lang="zh-CN" altLang="en-US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标签</a:t>
            </a:r>
            <a:r>
              <a:rPr lang="en-US" altLang="zh-CN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/ </a:t>
            </a:r>
            <a:r>
              <a:rPr lang="zh-CN" altLang="en-US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贡献者</a:t>
            </a:r>
            <a:r>
              <a:rPr lang="en-US" altLang="zh-CN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 </a:t>
            </a:r>
            <a:endParaRPr lang="en-US" altLang="zh-CN" sz="18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单一维度关联</a:t>
            </a:r>
            <a:endParaRPr lang="zh-CN" altLang="en-US" sz="18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9"/>
            </p:custDataLst>
          </p:nvPr>
        </p:nvSpPr>
        <p:spPr>
          <a:xfrm>
            <a:off x="4751070" y="4420870"/>
            <a:ext cx="2778125" cy="161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融合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“OpenDigger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生态关联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+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语义向量相似度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+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时序趋势相似度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，提升关联精准性，构建多维度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数据模型。</a:t>
            </a:r>
            <a:endParaRPr lang="zh-CN" altLang="en-US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51" name="TextBox 22"/>
          <p:cNvSpPr txBox="1"/>
          <p:nvPr>
            <p:custDataLst>
              <p:tags r:id="rId20"/>
            </p:custDataLst>
          </p:nvPr>
        </p:nvSpPr>
        <p:spPr>
          <a:xfrm>
            <a:off x="8870315" y="3410585"/>
            <a:ext cx="2349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创新方案：</a:t>
            </a:r>
            <a:endParaRPr lang="zh-CN" altLang="en-US" sz="18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基于优化版</a:t>
            </a:r>
            <a:r>
              <a:rPr lang="en-US" altLang="zh-CN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EasyGraph</a:t>
            </a:r>
            <a:r>
              <a:rPr lang="zh-CN" altLang="en-US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的</a:t>
            </a:r>
            <a:r>
              <a:rPr lang="zh-CN" altLang="en-US" sz="1800" dirty="0">
                <a:solidFill>
                  <a:schemeClr val="accent1"/>
                </a:solidFill>
              </a:rPr>
              <a:t>互动社交图</a:t>
            </a:r>
            <a:endParaRPr lang="zh-CN" altLang="en-US" sz="1800" dirty="0">
              <a:solidFill>
                <a:schemeClr val="accent1"/>
              </a:solidFill>
            </a:endParaRPr>
          </a:p>
        </p:txBody>
      </p:sp>
      <p:sp>
        <p:nvSpPr>
          <p:cNvPr id="53" name="TextBox 22"/>
          <p:cNvSpPr txBox="1"/>
          <p:nvPr>
            <p:custDataLst>
              <p:tags r:id="rId21"/>
            </p:custDataLst>
          </p:nvPr>
        </p:nvSpPr>
        <p:spPr>
          <a:xfrm>
            <a:off x="8416925" y="2289175"/>
            <a:ext cx="3042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</a:rPr>
              <a:t>传统方案：</a:t>
            </a:r>
            <a:endParaRPr lang="zh-CN" altLang="en-US" sz="1800" dirty="0">
              <a:solidFill>
                <a:schemeClr val="accent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无深度探索功能，</a:t>
            </a:r>
            <a:r>
              <a:rPr lang="zh-CN" altLang="en-US" sz="1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使用门槛高，依赖专业操作</a:t>
            </a:r>
            <a:endParaRPr lang="zh-CN" altLang="en-US" sz="18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22"/>
            </p:custDataLst>
          </p:nvPr>
        </p:nvSpPr>
        <p:spPr>
          <a:xfrm>
            <a:off x="8561070" y="4406900"/>
            <a:ext cx="2778125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智能聚焦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+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双视角一键切换</a:t>
            </a:r>
            <a:r>
              <a:rPr lang="en-US" altLang="zh-CN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+SQLBot </a:t>
            </a:r>
            <a:r>
              <a:rPr lang="zh-CN" altLang="en-US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查询结果联动，低门槛可视化探索，非技术用户可快速捕捉技术趋势与生态格局。</a:t>
            </a:r>
            <a:endParaRPr lang="zh-CN" altLang="en-US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简约科技风科技发展峰会宣传微信公众号封面"/>
          <p:cNvPicPr>
            <a:picLocks noChangeAspect="1"/>
          </p:cNvPicPr>
          <p:nvPr/>
        </p:nvPicPr>
        <p:blipFill>
          <a:blip r:embed="rId1"/>
          <a:srcRect l="22600" r="30119"/>
          <a:stretch>
            <a:fillRect/>
          </a:stretch>
        </p:blipFill>
        <p:spPr>
          <a:xfrm>
            <a:off x="-3644265" y="3881755"/>
            <a:ext cx="8651240" cy="7786370"/>
          </a:xfrm>
          <a:prstGeom prst="rect">
            <a:avLst/>
          </a:prstGeom>
        </p:spPr>
      </p:pic>
      <p:sp>
        <p:nvSpPr>
          <p:cNvPr id="7" name="Freeform: Shape 27"/>
          <p:cNvSpPr/>
          <p:nvPr/>
        </p:nvSpPr>
        <p:spPr>
          <a:xfrm rot="10800000">
            <a:off x="7763799" y="3751174"/>
            <a:ext cx="4574731" cy="3116122"/>
          </a:xfrm>
          <a:custGeom>
            <a:avLst/>
            <a:gdLst>
              <a:gd name="connsiteX0" fmla="*/ 3810 w 5520690"/>
              <a:gd name="connsiteY0" fmla="*/ 0 h 3760471"/>
              <a:gd name="connsiteX1" fmla="*/ 250711 w 5520690"/>
              <a:gd name="connsiteY1" fmla="*/ 0 h 3760471"/>
              <a:gd name="connsiteX2" fmla="*/ 5266169 w 5520690"/>
              <a:gd name="connsiteY2" fmla="*/ 0 h 3760471"/>
              <a:gd name="connsiteX3" fmla="*/ 5520690 w 5520690"/>
              <a:gd name="connsiteY3" fmla="*/ 0 h 3760471"/>
              <a:gd name="connsiteX4" fmla="*/ 5520690 w 5520690"/>
              <a:gd name="connsiteY4" fmla="*/ 2354580 h 3760471"/>
              <a:gd name="connsiteX5" fmla="*/ 5516880 w 5520690"/>
              <a:gd name="connsiteY5" fmla="*/ 2354580 h 3760471"/>
              <a:gd name="connsiteX6" fmla="*/ 5516880 w 5520690"/>
              <a:gd name="connsiteY6" fmla="*/ 3509760 h 3760471"/>
              <a:gd name="connsiteX7" fmla="*/ 5266169 w 5520690"/>
              <a:gd name="connsiteY7" fmla="*/ 3760471 h 3760471"/>
              <a:gd name="connsiteX8" fmla="*/ 250711 w 5520690"/>
              <a:gd name="connsiteY8" fmla="*/ 3760471 h 3760471"/>
              <a:gd name="connsiteX9" fmla="*/ 0 w 5520690"/>
              <a:gd name="connsiteY9" fmla="*/ 3509760 h 3760471"/>
              <a:gd name="connsiteX10" fmla="*/ 0 w 5520690"/>
              <a:gd name="connsiteY10" fmla="*/ 250711 h 3760471"/>
              <a:gd name="connsiteX11" fmla="*/ 3810 w 5520690"/>
              <a:gd name="connsiteY11" fmla="*/ 231839 h 3760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20690" h="3760471">
                <a:moveTo>
                  <a:pt x="3810" y="0"/>
                </a:moveTo>
                <a:lnTo>
                  <a:pt x="250711" y="0"/>
                </a:lnTo>
                <a:lnTo>
                  <a:pt x="5266169" y="0"/>
                </a:lnTo>
                <a:lnTo>
                  <a:pt x="5520690" y="0"/>
                </a:lnTo>
                <a:lnTo>
                  <a:pt x="5520690" y="2354580"/>
                </a:lnTo>
                <a:lnTo>
                  <a:pt x="5516880" y="2354580"/>
                </a:lnTo>
                <a:lnTo>
                  <a:pt x="5516880" y="3509760"/>
                </a:lnTo>
                <a:cubicBezTo>
                  <a:pt x="5516880" y="3648224"/>
                  <a:pt x="5404633" y="3760471"/>
                  <a:pt x="5266169" y="3760471"/>
                </a:cubicBezTo>
                <a:lnTo>
                  <a:pt x="250711" y="3760471"/>
                </a:lnTo>
                <a:cubicBezTo>
                  <a:pt x="112247" y="3760471"/>
                  <a:pt x="0" y="3648224"/>
                  <a:pt x="0" y="3509760"/>
                </a:cubicBezTo>
                <a:lnTo>
                  <a:pt x="0" y="250711"/>
                </a:lnTo>
                <a:lnTo>
                  <a:pt x="3810" y="23183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7917536" y="4010889"/>
            <a:ext cx="4165657" cy="284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9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ctive SemiBold" charset="0"/>
              </a:rPr>
              <a:t>03</a:t>
            </a:r>
            <a:endParaRPr lang="en-US" sz="199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ctive SemiBold" charset="0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628650" y="2808052"/>
            <a:ext cx="6900546" cy="2971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ID" dirty="0">
                <a:latin typeface="等线 Light" panose="02010600030101010101" charset="-122"/>
                <a:ea typeface="等线 Light" panose="02010600030101010101" charset="-122"/>
                <a:cs typeface="Crunch SemiBold" charset="0"/>
                <a:sym typeface="+mn-ea"/>
              </a:rPr>
              <a:t>Expected Functions &amp; Feasibility Proof</a:t>
            </a:r>
            <a:endParaRPr lang="en-ID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  <a:cs typeface="Crunch SemiBold" charset="0"/>
            </a:endParaRPr>
          </a:p>
          <a:p>
            <a:pPr>
              <a:lnSpc>
                <a:spcPct val="130000"/>
              </a:lnSpc>
            </a:pPr>
            <a:endParaRPr lang="en-ID" dirty="0">
              <a:latin typeface="等线 Light" panose="02010600030101010101" charset="-122"/>
              <a:ea typeface="等线 Light" panose="02010600030101010101" charset="-122"/>
              <a:cs typeface="Active SemiBold" charset="0"/>
            </a:endParaRPr>
          </a:p>
        </p:txBody>
      </p:sp>
      <p:sp>
        <p:nvSpPr>
          <p:cNvPr id="16" name="Rectangle: Rounded Corners 9"/>
          <p:cNvSpPr/>
          <p:nvPr/>
        </p:nvSpPr>
        <p:spPr>
          <a:xfrm>
            <a:off x="706755" y="5797550"/>
            <a:ext cx="2738967" cy="51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0" name="Oval 10"/>
          <p:cNvSpPr/>
          <p:nvPr/>
        </p:nvSpPr>
        <p:spPr>
          <a:xfrm>
            <a:off x="3599459" y="5797550"/>
            <a:ext cx="511175" cy="5111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1" name="任意形状 658"/>
          <p:cNvSpPr/>
          <p:nvPr/>
        </p:nvSpPr>
        <p:spPr>
          <a:xfrm>
            <a:off x="3747163" y="5947900"/>
            <a:ext cx="220000" cy="2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lose/>
                <a:moveTo>
                  <a:pt x="10800" y="19440"/>
                </a:moveTo>
                <a:cubicBezTo>
                  <a:pt x="15572" y="19440"/>
                  <a:pt x="19440" y="15572"/>
                  <a:pt x="19440" y="10800"/>
                </a:cubicBezTo>
                <a:cubicBezTo>
                  <a:pt x="19440" y="6028"/>
                  <a:pt x="15572" y="2160"/>
                  <a:pt x="10800" y="2160"/>
                </a:cubicBezTo>
                <a:cubicBezTo>
                  <a:pt x="6028" y="2160"/>
                  <a:pt x="2160" y="6028"/>
                  <a:pt x="2160" y="10800"/>
                </a:cubicBezTo>
                <a:cubicBezTo>
                  <a:pt x="2160" y="15572"/>
                  <a:pt x="6028" y="19440"/>
                  <a:pt x="10800" y="19440"/>
                </a:cubicBezTo>
                <a:close/>
                <a:moveTo>
                  <a:pt x="9720" y="15120"/>
                </a:moveTo>
                <a:lnTo>
                  <a:pt x="6480" y="15120"/>
                </a:lnTo>
                <a:lnTo>
                  <a:pt x="6480" y="6480"/>
                </a:lnTo>
                <a:lnTo>
                  <a:pt x="9720" y="6480"/>
                </a:lnTo>
                <a:lnTo>
                  <a:pt x="9720" y="4320"/>
                </a:lnTo>
                <a:lnTo>
                  <a:pt x="11880" y="4320"/>
                </a:lnTo>
                <a:lnTo>
                  <a:pt x="11880" y="6480"/>
                </a:lnTo>
                <a:lnTo>
                  <a:pt x="12960" y="6480"/>
                </a:lnTo>
                <a:cubicBezTo>
                  <a:pt x="14451" y="6480"/>
                  <a:pt x="15660" y="7689"/>
                  <a:pt x="15660" y="9180"/>
                </a:cubicBezTo>
                <a:cubicBezTo>
                  <a:pt x="15660" y="9764"/>
                  <a:pt x="15470" y="10333"/>
                  <a:pt x="15120" y="10800"/>
                </a:cubicBezTo>
                <a:cubicBezTo>
                  <a:pt x="16015" y="11993"/>
                  <a:pt x="15773" y="13685"/>
                  <a:pt x="14580" y="14580"/>
                </a:cubicBezTo>
                <a:cubicBezTo>
                  <a:pt x="14113" y="14931"/>
                  <a:pt x="13544" y="15120"/>
                  <a:pt x="12960" y="15120"/>
                </a:cubicBezTo>
                <a:lnTo>
                  <a:pt x="11880" y="15120"/>
                </a:lnTo>
                <a:lnTo>
                  <a:pt x="11880" y="17280"/>
                </a:lnTo>
                <a:lnTo>
                  <a:pt x="9720" y="17280"/>
                </a:lnTo>
                <a:lnTo>
                  <a:pt x="9720" y="15120"/>
                </a:lnTo>
                <a:close/>
                <a:moveTo>
                  <a:pt x="8640" y="11880"/>
                </a:moveTo>
                <a:lnTo>
                  <a:pt x="8640" y="12960"/>
                </a:lnTo>
                <a:lnTo>
                  <a:pt x="12960" y="12960"/>
                </a:lnTo>
                <a:cubicBezTo>
                  <a:pt x="13258" y="12960"/>
                  <a:pt x="13500" y="12718"/>
                  <a:pt x="13500" y="12420"/>
                </a:cubicBezTo>
                <a:cubicBezTo>
                  <a:pt x="13500" y="12122"/>
                  <a:pt x="13258" y="11880"/>
                  <a:pt x="12960" y="11880"/>
                </a:cubicBezTo>
                <a:lnTo>
                  <a:pt x="8640" y="11880"/>
                </a:lnTo>
                <a:close/>
                <a:moveTo>
                  <a:pt x="8640" y="8640"/>
                </a:moveTo>
                <a:lnTo>
                  <a:pt x="8640" y="9720"/>
                </a:lnTo>
                <a:lnTo>
                  <a:pt x="12960" y="9720"/>
                </a:lnTo>
                <a:cubicBezTo>
                  <a:pt x="13258" y="9720"/>
                  <a:pt x="13500" y="9478"/>
                  <a:pt x="13500" y="9180"/>
                </a:cubicBezTo>
                <a:cubicBezTo>
                  <a:pt x="13500" y="8882"/>
                  <a:pt x="13258" y="8640"/>
                  <a:pt x="12960" y="8640"/>
                </a:cubicBezTo>
                <a:lnTo>
                  <a:pt x="8640" y="864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2" name="TextBox 12"/>
          <p:cNvSpPr txBox="1"/>
          <p:nvPr/>
        </p:nvSpPr>
        <p:spPr>
          <a:xfrm>
            <a:off x="854907" y="5909572"/>
            <a:ext cx="2442662" cy="28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/>
            <a:r>
              <a:rPr lang="en-US" altLang="en-ID" sz="1400" dirty="0">
                <a:solidFill>
                  <a:schemeClr val="accent1"/>
                </a:solidFill>
              </a:rPr>
              <a:t>Part 3</a:t>
            </a:r>
            <a:endParaRPr lang="en-US" altLang="en-ID" sz="1400" dirty="0">
              <a:solidFill>
                <a:schemeClr val="accent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01065" y="1532255"/>
            <a:ext cx="94056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dirty="0">
                <a:solidFill>
                  <a:schemeClr val="accent1"/>
                </a:solidFill>
                <a:latin typeface="方正大标宋简体" panose="02000000000000000000" charset="-122"/>
                <a:ea typeface="方正大标宋简体" panose="02000000000000000000" charset="-122"/>
                <a:sym typeface="+mn-ea"/>
              </a:rPr>
              <a:t>功能展示与</a:t>
            </a:r>
            <a:r>
              <a:rPr lang="zh-CN" altLang="en-US" sz="6600" dirty="0">
                <a:solidFill>
                  <a:schemeClr val="accent1"/>
                </a:solidFill>
                <a:latin typeface="方正大标宋简体" panose="02000000000000000000" charset="-122"/>
                <a:ea typeface="方正大标宋简体" panose="02000000000000000000" charset="-122"/>
                <a:sym typeface="+mn-ea"/>
              </a:rPr>
              <a:t>分析</a:t>
            </a:r>
            <a:endParaRPr lang="zh-CN" altLang="en-US" sz="6600" dirty="0">
              <a:solidFill>
                <a:schemeClr val="accent1"/>
              </a:solidFill>
              <a:latin typeface="方正大标宋简体" panose="02000000000000000000" charset="-122"/>
              <a:ea typeface="方正大标宋简体" panose="02000000000000000000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528383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功能</a:t>
            </a:r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展示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pic>
        <p:nvPicPr>
          <p:cNvPr id="5" name="图片 4" descr="紫色简约商务风流程图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795" y="201930"/>
            <a:ext cx="6868160" cy="3863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/>
          <p:cNvSpPr/>
          <p:nvPr/>
        </p:nvSpPr>
        <p:spPr>
          <a:xfrm>
            <a:off x="9928698" y="2331396"/>
            <a:ext cx="2279514" cy="4526604"/>
          </a:xfrm>
          <a:custGeom>
            <a:avLst/>
            <a:gdLst>
              <a:gd name="connsiteX0" fmla="*/ 2263302 w 2279514"/>
              <a:gd name="connsiteY0" fmla="*/ 0 h 4526604"/>
              <a:gd name="connsiteX1" fmla="*/ 2279514 w 2279514"/>
              <a:gd name="connsiteY1" fmla="*/ 819 h 4526604"/>
              <a:gd name="connsiteX2" fmla="*/ 2279514 w 2279514"/>
              <a:gd name="connsiteY2" fmla="*/ 4525786 h 4526604"/>
              <a:gd name="connsiteX3" fmla="*/ 2263302 w 2279514"/>
              <a:gd name="connsiteY3" fmla="*/ 4526604 h 4526604"/>
              <a:gd name="connsiteX4" fmla="*/ 0 w 2279514"/>
              <a:gd name="connsiteY4" fmla="*/ 2263302 h 4526604"/>
              <a:gd name="connsiteX5" fmla="*/ 2263302 w 2279514"/>
              <a:gd name="connsiteY5" fmla="*/ 0 h 45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9514" h="4526604">
                <a:moveTo>
                  <a:pt x="2263302" y="0"/>
                </a:moveTo>
                <a:lnTo>
                  <a:pt x="2279514" y="819"/>
                </a:lnTo>
                <a:lnTo>
                  <a:pt x="2279514" y="4525786"/>
                </a:lnTo>
                <a:lnTo>
                  <a:pt x="2263302" y="4526604"/>
                </a:lnTo>
                <a:cubicBezTo>
                  <a:pt x="1013315" y="4526604"/>
                  <a:pt x="0" y="3513289"/>
                  <a:pt x="0" y="2263302"/>
                </a:cubicBezTo>
                <a:cubicBezTo>
                  <a:pt x="0" y="1013315"/>
                  <a:pt x="1013315" y="0"/>
                  <a:pt x="2263302" y="0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799773" y="853004"/>
            <a:ext cx="7050882" cy="549293"/>
            <a:chOff x="421448" y="1323104"/>
            <a:chExt cx="7050882" cy="549293"/>
          </a:xfrm>
        </p:grpSpPr>
        <p:sp>
          <p:nvSpPr>
            <p:cNvPr id="10" name="TextBox 9"/>
            <p:cNvSpPr txBox="1"/>
            <p:nvPr/>
          </p:nvSpPr>
          <p:spPr>
            <a:xfrm>
              <a:off x="421448" y="1323104"/>
              <a:ext cx="754005" cy="549275"/>
            </a:xfrm>
            <a:custGeom>
              <a:avLst/>
              <a:gdLst/>
              <a:ahLst/>
              <a:cxnLst/>
              <a:rect l="l" t="t" r="r" b="b"/>
              <a:pathLst>
                <a:path w="1376429" h="1002697">
                  <a:moveTo>
                    <a:pt x="1166774" y="0"/>
                  </a:moveTo>
                  <a:lnTo>
                    <a:pt x="1376429" y="154963"/>
                  </a:lnTo>
                  <a:cubicBezTo>
                    <a:pt x="1321736" y="179270"/>
                    <a:pt x="1270082" y="208136"/>
                    <a:pt x="1221467" y="241559"/>
                  </a:cubicBezTo>
                  <a:cubicBezTo>
                    <a:pt x="1172851" y="274983"/>
                    <a:pt x="1130819" y="311951"/>
                    <a:pt x="1095370" y="352464"/>
                  </a:cubicBezTo>
                  <a:cubicBezTo>
                    <a:pt x="1059922" y="392976"/>
                    <a:pt x="1033082" y="434502"/>
                    <a:pt x="1014850" y="477041"/>
                  </a:cubicBezTo>
                  <a:lnTo>
                    <a:pt x="1030043" y="486157"/>
                  </a:lnTo>
                  <a:cubicBezTo>
                    <a:pt x="1042197" y="478054"/>
                    <a:pt x="1055870" y="471977"/>
                    <a:pt x="1071062" y="467926"/>
                  </a:cubicBezTo>
                  <a:cubicBezTo>
                    <a:pt x="1086255" y="463874"/>
                    <a:pt x="1107018" y="461849"/>
                    <a:pt x="1133351" y="461849"/>
                  </a:cubicBezTo>
                  <a:cubicBezTo>
                    <a:pt x="1169813" y="461849"/>
                    <a:pt x="1206781" y="470964"/>
                    <a:pt x="1244256" y="489195"/>
                  </a:cubicBezTo>
                  <a:cubicBezTo>
                    <a:pt x="1281730" y="507426"/>
                    <a:pt x="1313128" y="534772"/>
                    <a:pt x="1338448" y="571234"/>
                  </a:cubicBezTo>
                  <a:cubicBezTo>
                    <a:pt x="1363769" y="607696"/>
                    <a:pt x="1376429" y="654286"/>
                    <a:pt x="1376429" y="711004"/>
                  </a:cubicBezTo>
                  <a:cubicBezTo>
                    <a:pt x="1376429" y="773799"/>
                    <a:pt x="1362250" y="826972"/>
                    <a:pt x="1333890" y="870524"/>
                  </a:cubicBezTo>
                  <a:cubicBezTo>
                    <a:pt x="1305532" y="914075"/>
                    <a:pt x="1268057" y="946992"/>
                    <a:pt x="1221467" y="969274"/>
                  </a:cubicBezTo>
                  <a:cubicBezTo>
                    <a:pt x="1174877" y="991556"/>
                    <a:pt x="1125248" y="1002697"/>
                    <a:pt x="1072582" y="1002697"/>
                  </a:cubicBezTo>
                  <a:cubicBezTo>
                    <a:pt x="999658" y="1002697"/>
                    <a:pt x="938382" y="985479"/>
                    <a:pt x="888754" y="951043"/>
                  </a:cubicBezTo>
                  <a:cubicBezTo>
                    <a:pt x="839126" y="916607"/>
                    <a:pt x="802664" y="871030"/>
                    <a:pt x="779369" y="814312"/>
                  </a:cubicBezTo>
                  <a:cubicBezTo>
                    <a:pt x="756074" y="757594"/>
                    <a:pt x="744426" y="696824"/>
                    <a:pt x="744426" y="632003"/>
                  </a:cubicBezTo>
                  <a:cubicBezTo>
                    <a:pt x="744426" y="538823"/>
                    <a:pt x="764176" y="450708"/>
                    <a:pt x="803677" y="367656"/>
                  </a:cubicBezTo>
                  <a:cubicBezTo>
                    <a:pt x="843177" y="284604"/>
                    <a:pt x="894831" y="211175"/>
                    <a:pt x="958639" y="147366"/>
                  </a:cubicBezTo>
                  <a:cubicBezTo>
                    <a:pt x="1022447" y="83559"/>
                    <a:pt x="1091826" y="34436"/>
                    <a:pt x="1166774" y="0"/>
                  </a:cubicBezTo>
                  <a:close/>
                  <a:moveTo>
                    <a:pt x="422348" y="0"/>
                  </a:moveTo>
                  <a:lnTo>
                    <a:pt x="632003" y="154963"/>
                  </a:lnTo>
                  <a:cubicBezTo>
                    <a:pt x="577311" y="179270"/>
                    <a:pt x="525656" y="208136"/>
                    <a:pt x="477041" y="241559"/>
                  </a:cubicBezTo>
                  <a:cubicBezTo>
                    <a:pt x="428425" y="274983"/>
                    <a:pt x="386393" y="311951"/>
                    <a:pt x="350944" y="352464"/>
                  </a:cubicBezTo>
                  <a:cubicBezTo>
                    <a:pt x="315495" y="392976"/>
                    <a:pt x="288655" y="434502"/>
                    <a:pt x="270424" y="477041"/>
                  </a:cubicBezTo>
                  <a:lnTo>
                    <a:pt x="285617" y="486157"/>
                  </a:lnTo>
                  <a:cubicBezTo>
                    <a:pt x="297771" y="478054"/>
                    <a:pt x="311444" y="471977"/>
                    <a:pt x="326636" y="467926"/>
                  </a:cubicBezTo>
                  <a:cubicBezTo>
                    <a:pt x="341829" y="463874"/>
                    <a:pt x="362591" y="461849"/>
                    <a:pt x="388925" y="461849"/>
                  </a:cubicBezTo>
                  <a:cubicBezTo>
                    <a:pt x="425387" y="461849"/>
                    <a:pt x="462355" y="470964"/>
                    <a:pt x="499829" y="489195"/>
                  </a:cubicBezTo>
                  <a:cubicBezTo>
                    <a:pt x="537304" y="507426"/>
                    <a:pt x="568701" y="534772"/>
                    <a:pt x="594022" y="571234"/>
                  </a:cubicBezTo>
                  <a:cubicBezTo>
                    <a:pt x="619343" y="607696"/>
                    <a:pt x="632003" y="654286"/>
                    <a:pt x="632003" y="711004"/>
                  </a:cubicBezTo>
                  <a:cubicBezTo>
                    <a:pt x="632003" y="773799"/>
                    <a:pt x="617823" y="826972"/>
                    <a:pt x="589464" y="870524"/>
                  </a:cubicBezTo>
                  <a:cubicBezTo>
                    <a:pt x="561105" y="914075"/>
                    <a:pt x="523631" y="946992"/>
                    <a:pt x="477041" y="969274"/>
                  </a:cubicBezTo>
                  <a:cubicBezTo>
                    <a:pt x="430451" y="991556"/>
                    <a:pt x="380822" y="1002697"/>
                    <a:pt x="328156" y="1002697"/>
                  </a:cubicBezTo>
                  <a:cubicBezTo>
                    <a:pt x="255232" y="1002697"/>
                    <a:pt x="193956" y="985479"/>
                    <a:pt x="144328" y="951043"/>
                  </a:cubicBezTo>
                  <a:cubicBezTo>
                    <a:pt x="94699" y="916607"/>
                    <a:pt x="58238" y="871030"/>
                    <a:pt x="34943" y="814312"/>
                  </a:cubicBezTo>
                  <a:cubicBezTo>
                    <a:pt x="11648" y="757594"/>
                    <a:pt x="0" y="696824"/>
                    <a:pt x="0" y="632003"/>
                  </a:cubicBezTo>
                  <a:cubicBezTo>
                    <a:pt x="0" y="538823"/>
                    <a:pt x="19750" y="450708"/>
                    <a:pt x="59250" y="367656"/>
                  </a:cubicBezTo>
                  <a:cubicBezTo>
                    <a:pt x="98751" y="284604"/>
                    <a:pt x="150405" y="211175"/>
                    <a:pt x="214213" y="147366"/>
                  </a:cubicBezTo>
                  <a:cubicBezTo>
                    <a:pt x="278021" y="83559"/>
                    <a:pt x="347399" y="34436"/>
                    <a:pt x="422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ID" sz="23900" b="1" dirty="0">
                <a:solidFill>
                  <a:schemeClr val="accent2"/>
                </a:solidFill>
                <a:latin typeface="Saturday Sans Regular" panose="02010600010101010101" charset="-122"/>
                <a:cs typeface="Active SemiBold" charset="0"/>
                <a:sym typeface="Saturday Sans Regular" panose="02010600010101010101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 rot="10800000">
              <a:off x="6718325" y="1323122"/>
              <a:ext cx="754005" cy="549275"/>
            </a:xfrm>
            <a:custGeom>
              <a:avLst/>
              <a:gdLst/>
              <a:ahLst/>
              <a:cxnLst/>
              <a:rect l="l" t="t" r="r" b="b"/>
              <a:pathLst>
                <a:path w="1376429" h="1002697">
                  <a:moveTo>
                    <a:pt x="1166774" y="0"/>
                  </a:moveTo>
                  <a:lnTo>
                    <a:pt x="1376429" y="154963"/>
                  </a:lnTo>
                  <a:cubicBezTo>
                    <a:pt x="1321736" y="179270"/>
                    <a:pt x="1270082" y="208136"/>
                    <a:pt x="1221467" y="241559"/>
                  </a:cubicBezTo>
                  <a:cubicBezTo>
                    <a:pt x="1172851" y="274983"/>
                    <a:pt x="1130819" y="311951"/>
                    <a:pt x="1095370" y="352464"/>
                  </a:cubicBezTo>
                  <a:cubicBezTo>
                    <a:pt x="1059922" y="392976"/>
                    <a:pt x="1033082" y="434502"/>
                    <a:pt x="1014850" y="477041"/>
                  </a:cubicBezTo>
                  <a:lnTo>
                    <a:pt x="1030043" y="486157"/>
                  </a:lnTo>
                  <a:cubicBezTo>
                    <a:pt x="1042197" y="478054"/>
                    <a:pt x="1055870" y="471977"/>
                    <a:pt x="1071062" y="467926"/>
                  </a:cubicBezTo>
                  <a:cubicBezTo>
                    <a:pt x="1086255" y="463874"/>
                    <a:pt x="1107018" y="461849"/>
                    <a:pt x="1133351" y="461849"/>
                  </a:cubicBezTo>
                  <a:cubicBezTo>
                    <a:pt x="1169813" y="461849"/>
                    <a:pt x="1206781" y="470964"/>
                    <a:pt x="1244256" y="489195"/>
                  </a:cubicBezTo>
                  <a:cubicBezTo>
                    <a:pt x="1281730" y="507426"/>
                    <a:pt x="1313128" y="534772"/>
                    <a:pt x="1338448" y="571234"/>
                  </a:cubicBezTo>
                  <a:cubicBezTo>
                    <a:pt x="1363769" y="607696"/>
                    <a:pt x="1376429" y="654286"/>
                    <a:pt x="1376429" y="711004"/>
                  </a:cubicBezTo>
                  <a:cubicBezTo>
                    <a:pt x="1376429" y="773799"/>
                    <a:pt x="1362250" y="826972"/>
                    <a:pt x="1333890" y="870524"/>
                  </a:cubicBezTo>
                  <a:cubicBezTo>
                    <a:pt x="1305532" y="914075"/>
                    <a:pt x="1268057" y="946992"/>
                    <a:pt x="1221467" y="969274"/>
                  </a:cubicBezTo>
                  <a:cubicBezTo>
                    <a:pt x="1174877" y="991556"/>
                    <a:pt x="1125248" y="1002697"/>
                    <a:pt x="1072582" y="1002697"/>
                  </a:cubicBezTo>
                  <a:cubicBezTo>
                    <a:pt x="999658" y="1002697"/>
                    <a:pt x="938382" y="985479"/>
                    <a:pt x="888754" y="951043"/>
                  </a:cubicBezTo>
                  <a:cubicBezTo>
                    <a:pt x="839126" y="916607"/>
                    <a:pt x="802664" y="871030"/>
                    <a:pt x="779369" y="814312"/>
                  </a:cubicBezTo>
                  <a:cubicBezTo>
                    <a:pt x="756074" y="757594"/>
                    <a:pt x="744426" y="696824"/>
                    <a:pt x="744426" y="632003"/>
                  </a:cubicBezTo>
                  <a:cubicBezTo>
                    <a:pt x="744426" y="538823"/>
                    <a:pt x="764176" y="450708"/>
                    <a:pt x="803677" y="367656"/>
                  </a:cubicBezTo>
                  <a:cubicBezTo>
                    <a:pt x="843177" y="284604"/>
                    <a:pt x="894831" y="211175"/>
                    <a:pt x="958639" y="147366"/>
                  </a:cubicBezTo>
                  <a:cubicBezTo>
                    <a:pt x="1022447" y="83559"/>
                    <a:pt x="1091826" y="34436"/>
                    <a:pt x="1166774" y="0"/>
                  </a:cubicBezTo>
                  <a:close/>
                  <a:moveTo>
                    <a:pt x="422348" y="0"/>
                  </a:moveTo>
                  <a:lnTo>
                    <a:pt x="632003" y="154963"/>
                  </a:lnTo>
                  <a:cubicBezTo>
                    <a:pt x="577311" y="179270"/>
                    <a:pt x="525656" y="208136"/>
                    <a:pt x="477041" y="241559"/>
                  </a:cubicBezTo>
                  <a:cubicBezTo>
                    <a:pt x="428425" y="274983"/>
                    <a:pt x="386393" y="311951"/>
                    <a:pt x="350944" y="352464"/>
                  </a:cubicBezTo>
                  <a:cubicBezTo>
                    <a:pt x="315495" y="392976"/>
                    <a:pt x="288655" y="434502"/>
                    <a:pt x="270424" y="477041"/>
                  </a:cubicBezTo>
                  <a:lnTo>
                    <a:pt x="285617" y="486157"/>
                  </a:lnTo>
                  <a:cubicBezTo>
                    <a:pt x="297771" y="478054"/>
                    <a:pt x="311444" y="471977"/>
                    <a:pt x="326636" y="467926"/>
                  </a:cubicBezTo>
                  <a:cubicBezTo>
                    <a:pt x="341829" y="463874"/>
                    <a:pt x="362591" y="461849"/>
                    <a:pt x="388925" y="461849"/>
                  </a:cubicBezTo>
                  <a:cubicBezTo>
                    <a:pt x="425387" y="461849"/>
                    <a:pt x="462355" y="470964"/>
                    <a:pt x="499829" y="489195"/>
                  </a:cubicBezTo>
                  <a:cubicBezTo>
                    <a:pt x="537304" y="507426"/>
                    <a:pt x="568701" y="534772"/>
                    <a:pt x="594022" y="571234"/>
                  </a:cubicBezTo>
                  <a:cubicBezTo>
                    <a:pt x="619343" y="607696"/>
                    <a:pt x="632003" y="654286"/>
                    <a:pt x="632003" y="711004"/>
                  </a:cubicBezTo>
                  <a:cubicBezTo>
                    <a:pt x="632003" y="773799"/>
                    <a:pt x="617823" y="826972"/>
                    <a:pt x="589464" y="870524"/>
                  </a:cubicBezTo>
                  <a:cubicBezTo>
                    <a:pt x="561105" y="914075"/>
                    <a:pt x="523631" y="946992"/>
                    <a:pt x="477041" y="969274"/>
                  </a:cubicBezTo>
                  <a:cubicBezTo>
                    <a:pt x="430451" y="991556"/>
                    <a:pt x="380822" y="1002697"/>
                    <a:pt x="328156" y="1002697"/>
                  </a:cubicBezTo>
                  <a:cubicBezTo>
                    <a:pt x="255232" y="1002697"/>
                    <a:pt x="193956" y="985479"/>
                    <a:pt x="144328" y="951043"/>
                  </a:cubicBezTo>
                  <a:cubicBezTo>
                    <a:pt x="94699" y="916607"/>
                    <a:pt x="58238" y="871030"/>
                    <a:pt x="34943" y="814312"/>
                  </a:cubicBezTo>
                  <a:cubicBezTo>
                    <a:pt x="11648" y="757594"/>
                    <a:pt x="0" y="696824"/>
                    <a:pt x="0" y="632003"/>
                  </a:cubicBezTo>
                  <a:cubicBezTo>
                    <a:pt x="0" y="538823"/>
                    <a:pt x="19750" y="450708"/>
                    <a:pt x="59250" y="367656"/>
                  </a:cubicBezTo>
                  <a:cubicBezTo>
                    <a:pt x="98751" y="284604"/>
                    <a:pt x="150405" y="211175"/>
                    <a:pt x="214213" y="147366"/>
                  </a:cubicBezTo>
                  <a:cubicBezTo>
                    <a:pt x="278021" y="83559"/>
                    <a:pt x="347399" y="34436"/>
                    <a:pt x="422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ID" sz="23900" b="1" dirty="0">
                <a:solidFill>
                  <a:schemeClr val="accent2"/>
                </a:solidFill>
                <a:latin typeface="Saturday Sans Regular" panose="02010600010101010101" charset="-122"/>
                <a:cs typeface="Active SemiBold" charset="0"/>
                <a:sym typeface="Saturday Sans Regular" panose="02010600010101010101" charset="-122"/>
              </a:endParaRPr>
            </a:p>
          </p:txBody>
        </p:sp>
      </p:grpSp>
      <p:sp>
        <p:nvSpPr>
          <p:cNvPr id="16" name="Freeform: Shape 15"/>
          <p:cNvSpPr/>
          <p:nvPr/>
        </p:nvSpPr>
        <p:spPr>
          <a:xfrm rot="5400000">
            <a:off x="8547414" y="5073982"/>
            <a:ext cx="1195011" cy="2373025"/>
          </a:xfrm>
          <a:custGeom>
            <a:avLst/>
            <a:gdLst>
              <a:gd name="connsiteX0" fmla="*/ 2263302 w 2279514"/>
              <a:gd name="connsiteY0" fmla="*/ 0 h 4526604"/>
              <a:gd name="connsiteX1" fmla="*/ 2279514 w 2279514"/>
              <a:gd name="connsiteY1" fmla="*/ 819 h 4526604"/>
              <a:gd name="connsiteX2" fmla="*/ 2279514 w 2279514"/>
              <a:gd name="connsiteY2" fmla="*/ 4525786 h 4526604"/>
              <a:gd name="connsiteX3" fmla="*/ 2263302 w 2279514"/>
              <a:gd name="connsiteY3" fmla="*/ 4526604 h 4526604"/>
              <a:gd name="connsiteX4" fmla="*/ 0 w 2279514"/>
              <a:gd name="connsiteY4" fmla="*/ 2263302 h 4526604"/>
              <a:gd name="connsiteX5" fmla="*/ 2263302 w 2279514"/>
              <a:gd name="connsiteY5" fmla="*/ 0 h 45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9514" h="4526604">
                <a:moveTo>
                  <a:pt x="2263302" y="0"/>
                </a:moveTo>
                <a:lnTo>
                  <a:pt x="2279514" y="819"/>
                </a:lnTo>
                <a:lnTo>
                  <a:pt x="2279514" y="4525786"/>
                </a:lnTo>
                <a:lnTo>
                  <a:pt x="2263302" y="4526604"/>
                </a:lnTo>
                <a:cubicBezTo>
                  <a:pt x="1013315" y="4526604"/>
                  <a:pt x="0" y="3513289"/>
                  <a:pt x="0" y="2263302"/>
                </a:cubicBezTo>
                <a:cubicBezTo>
                  <a:pt x="0" y="1013315"/>
                  <a:pt x="1013315" y="0"/>
                  <a:pt x="2263302" y="0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29498" y="4019250"/>
            <a:ext cx="360497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>
              <a:lnSpc>
                <a:spcPct val="130000"/>
              </a:lnSpc>
            </a:pPr>
            <a:endParaRPr lang="en-ID" sz="1800" b="0" dirty="0">
              <a:solidFill>
                <a:schemeClr val="accent1"/>
              </a:solidFill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528383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  <a:p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56690" y="1040130"/>
            <a:ext cx="5433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35015" y="704850"/>
            <a:ext cx="58451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latin typeface="WPS灵秀黑" charset="-122"/>
                <a:ea typeface="WPS灵秀黑" charset="-122"/>
              </a:rPr>
              <a:t>社交图核心可视化</a:t>
            </a:r>
            <a:endParaRPr lang="zh-CN" altLang="en-US" sz="4800">
              <a:latin typeface="WPS灵秀黑" charset="-122"/>
              <a:ea typeface="WPS灵秀黑" charset="-122"/>
            </a:endParaRPr>
          </a:p>
        </p:txBody>
      </p:sp>
      <p:sp>
        <p:nvSpPr>
          <p:cNvPr id="22" name="Rectangle: Rounded Corners 21"/>
          <p:cNvSpPr/>
          <p:nvPr>
            <p:custDataLst>
              <p:tags r:id="rId2"/>
            </p:custDataLst>
          </p:nvPr>
        </p:nvSpPr>
        <p:spPr>
          <a:xfrm>
            <a:off x="678180" y="1772285"/>
            <a:ext cx="8147685" cy="1577975"/>
          </a:xfrm>
          <a:prstGeom prst="roundRect">
            <a:avLst>
              <a:gd name="adj" fmla="val 1812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3" name="Rectangle: Rounded Corners 22"/>
          <p:cNvSpPr/>
          <p:nvPr>
            <p:custDataLst>
              <p:tags r:id="rId3"/>
            </p:custDataLst>
          </p:nvPr>
        </p:nvSpPr>
        <p:spPr>
          <a:xfrm>
            <a:off x="2673985" y="3587750"/>
            <a:ext cx="9006205" cy="1455420"/>
          </a:xfrm>
          <a:prstGeom prst="roundRect">
            <a:avLst>
              <a:gd name="adj" fmla="val 1812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4"/>
            </p:custDataLst>
          </p:nvPr>
        </p:nvSpPr>
        <p:spPr>
          <a:xfrm>
            <a:off x="895350" y="2371725"/>
            <a:ext cx="737171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节点大小映射</a:t>
            </a:r>
            <a:r>
              <a:rPr lang="en-US" altLang="zh-CN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OpenRank </a:t>
            </a: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影响力，连线粗细量化</a:t>
            </a:r>
            <a:r>
              <a:rPr lang="en-US" altLang="zh-CN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“</a:t>
            </a: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生态关联</a:t>
            </a:r>
            <a:r>
              <a:rPr lang="en-US" altLang="zh-CN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+ </a:t>
            </a: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语义相似</a:t>
            </a:r>
            <a:r>
              <a:rPr lang="en-US" altLang="zh-CN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+ </a:t>
            </a: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时序趋势</a:t>
            </a:r>
            <a:r>
              <a:rPr lang="en-US" altLang="zh-CN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 </a:t>
            </a: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多维度加权强度；按技术领域差异化配色</a:t>
            </a: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。</a:t>
            </a:r>
            <a:endParaRPr lang="zh-CN" altLang="en-US" sz="1800" b="0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32" name="TextBox 30"/>
          <p:cNvSpPr txBox="1"/>
          <p:nvPr>
            <p:custDataLst>
              <p:tags r:id="rId5"/>
            </p:custDataLst>
          </p:nvPr>
        </p:nvSpPr>
        <p:spPr>
          <a:xfrm>
            <a:off x="961390" y="1898015"/>
            <a:ext cx="3713480" cy="58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 algn="l"/>
            <a:r>
              <a:rPr lang="zh-CN" altLang="en-US" sz="3600" b="0" dirty="0">
                <a:latin typeface="方正清刻本悦宋简体" panose="02000000000000000000" charset="-122"/>
                <a:ea typeface="方正清刻本悦宋简体" panose="02000000000000000000" charset="-122"/>
                <a:cs typeface="Active SemiBold" charset="0"/>
              </a:rPr>
              <a:t>生态网络呈现</a:t>
            </a:r>
            <a:endParaRPr lang="zh-CN" altLang="en-US" sz="3600" b="0" dirty="0">
              <a:latin typeface="方正清刻本悦宋简体" panose="02000000000000000000" charset="-122"/>
              <a:ea typeface="方正清刻本悦宋简体" panose="02000000000000000000" charset="-122"/>
              <a:cs typeface="Active SemiBold" charset="0"/>
            </a:endParaRPr>
          </a:p>
        </p:txBody>
      </p:sp>
      <p:sp>
        <p:nvSpPr>
          <p:cNvPr id="35" name="TextBox 27"/>
          <p:cNvSpPr txBox="1"/>
          <p:nvPr>
            <p:custDataLst>
              <p:tags r:id="rId6"/>
            </p:custDataLst>
          </p:nvPr>
        </p:nvSpPr>
        <p:spPr>
          <a:xfrm>
            <a:off x="2745740" y="4140835"/>
            <a:ext cx="8787765" cy="1874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内置折线图、饼图、柱状图、热力图等图表，将抽象数据转化为直观图表，分层展示核心指标：生态概览、仓库详情、大赛聚焦等</a:t>
            </a:r>
            <a:endParaRPr lang="zh-CN" altLang="en-US" sz="1800" b="0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36" name="TextBox 30"/>
          <p:cNvSpPr txBox="1"/>
          <p:nvPr>
            <p:custDataLst>
              <p:tags r:id="rId7"/>
            </p:custDataLst>
          </p:nvPr>
        </p:nvSpPr>
        <p:spPr>
          <a:xfrm>
            <a:off x="8023860" y="3641090"/>
            <a:ext cx="3771265" cy="58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 algn="l"/>
            <a:r>
              <a:rPr lang="zh-CN" altLang="en-US" sz="3600" b="0" dirty="0">
                <a:latin typeface="方正清刻本悦宋简体" panose="02000000000000000000" charset="-122"/>
                <a:ea typeface="方正清刻本悦宋简体" panose="02000000000000000000" charset="-122"/>
                <a:cs typeface="Active SemiBold" charset="0"/>
              </a:rPr>
              <a:t>数据洞察可视化</a:t>
            </a:r>
            <a:endParaRPr lang="zh-CN" altLang="en-US" sz="3600" b="0" dirty="0">
              <a:latin typeface="方正清刻本悦宋简体" panose="02000000000000000000" charset="-122"/>
              <a:ea typeface="方正清刻本悦宋简体" panose="02000000000000000000" charset="-122"/>
              <a:cs typeface="Active SemiBold" charset="0"/>
            </a:endParaRPr>
          </a:p>
        </p:txBody>
      </p:sp>
      <p:sp>
        <p:nvSpPr>
          <p:cNvPr id="38" name="Rectangle: Rounded Corners 21"/>
          <p:cNvSpPr/>
          <p:nvPr>
            <p:custDataLst>
              <p:tags r:id="rId8"/>
            </p:custDataLst>
          </p:nvPr>
        </p:nvSpPr>
        <p:spPr>
          <a:xfrm>
            <a:off x="754380" y="5307965"/>
            <a:ext cx="8147685" cy="1256030"/>
          </a:xfrm>
          <a:prstGeom prst="roundRect">
            <a:avLst>
              <a:gd name="adj" fmla="val 18120"/>
            </a:avLst>
          </a:prstGeom>
          <a:solidFill>
            <a:srgbClr val="FFF8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82675" y="5412740"/>
            <a:ext cx="3088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 dirty="0">
                <a:solidFill>
                  <a:schemeClr val="accent1"/>
                </a:solidFill>
                <a:latin typeface="方正清刻本悦宋简体" panose="02000000000000000000" charset="-122"/>
                <a:ea typeface="方正清刻本悦宋简体" panose="02000000000000000000" charset="-122"/>
                <a:cs typeface="Active SemiBold" charset="0"/>
              </a:rPr>
              <a:t>多维度视角</a:t>
            </a:r>
            <a:endParaRPr lang="zh-CN" altLang="en-US" sz="3600" dirty="0">
              <a:solidFill>
                <a:schemeClr val="accent1"/>
              </a:solidFill>
              <a:latin typeface="方正清刻本悦宋简体" panose="02000000000000000000" charset="-122"/>
              <a:ea typeface="方正清刻本悦宋简体" panose="02000000000000000000" charset="-122"/>
              <a:cs typeface="Active SemiBold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61415" y="6031865"/>
            <a:ext cx="7432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一键切换“技术栈视图”与“贡献者视图”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，点击弹出仓库详情面板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528383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功能</a:t>
            </a:r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展示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" y="588010"/>
            <a:ext cx="5699125" cy="62007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810" y="588010"/>
            <a:ext cx="5758180" cy="35134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005" y="4054475"/>
            <a:ext cx="5534660" cy="33077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70" y="467360"/>
            <a:ext cx="11682095" cy="630936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528383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  <a:p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528383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功能展示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" y="497205"/>
            <a:ext cx="11826240" cy="63760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528383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功能</a:t>
            </a:r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展示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945" y="3635375"/>
            <a:ext cx="4843145" cy="3067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255" y="531495"/>
            <a:ext cx="4775835" cy="29921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3820" y="3272790"/>
            <a:ext cx="3854450" cy="32111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100" y="3917315"/>
            <a:ext cx="3973195" cy="25666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3895" y="582295"/>
            <a:ext cx="4343400" cy="33299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35" y="824865"/>
            <a:ext cx="3340100" cy="24479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1"/>
          <p:cNvSpPr/>
          <p:nvPr/>
        </p:nvSpPr>
        <p:spPr>
          <a:xfrm>
            <a:off x="666115" y="1394460"/>
            <a:ext cx="2933700" cy="3815715"/>
          </a:xfrm>
          <a:prstGeom prst="roundRect">
            <a:avLst>
              <a:gd name="adj" fmla="val 13937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478463" y="999689"/>
            <a:ext cx="7372192" cy="549293"/>
            <a:chOff x="100138" y="1323104"/>
            <a:chExt cx="7372192" cy="549293"/>
          </a:xfrm>
        </p:grpSpPr>
        <p:sp>
          <p:nvSpPr>
            <p:cNvPr id="10" name="TextBox 9"/>
            <p:cNvSpPr txBox="1"/>
            <p:nvPr/>
          </p:nvSpPr>
          <p:spPr>
            <a:xfrm>
              <a:off x="100138" y="1323104"/>
              <a:ext cx="754005" cy="549275"/>
            </a:xfrm>
            <a:custGeom>
              <a:avLst/>
              <a:gdLst/>
              <a:ahLst/>
              <a:cxnLst/>
              <a:rect l="l" t="t" r="r" b="b"/>
              <a:pathLst>
                <a:path w="1376429" h="1002697">
                  <a:moveTo>
                    <a:pt x="1166774" y="0"/>
                  </a:moveTo>
                  <a:lnTo>
                    <a:pt x="1376429" y="154963"/>
                  </a:lnTo>
                  <a:cubicBezTo>
                    <a:pt x="1321736" y="179270"/>
                    <a:pt x="1270082" y="208136"/>
                    <a:pt x="1221467" y="241559"/>
                  </a:cubicBezTo>
                  <a:cubicBezTo>
                    <a:pt x="1172851" y="274983"/>
                    <a:pt x="1130819" y="311951"/>
                    <a:pt x="1095370" y="352464"/>
                  </a:cubicBezTo>
                  <a:cubicBezTo>
                    <a:pt x="1059922" y="392976"/>
                    <a:pt x="1033082" y="434502"/>
                    <a:pt x="1014850" y="477041"/>
                  </a:cubicBezTo>
                  <a:lnTo>
                    <a:pt x="1030043" y="486157"/>
                  </a:lnTo>
                  <a:cubicBezTo>
                    <a:pt x="1042197" y="478054"/>
                    <a:pt x="1055870" y="471977"/>
                    <a:pt x="1071062" y="467926"/>
                  </a:cubicBezTo>
                  <a:cubicBezTo>
                    <a:pt x="1086255" y="463874"/>
                    <a:pt x="1107018" y="461849"/>
                    <a:pt x="1133351" y="461849"/>
                  </a:cubicBezTo>
                  <a:cubicBezTo>
                    <a:pt x="1169813" y="461849"/>
                    <a:pt x="1206781" y="470964"/>
                    <a:pt x="1244256" y="489195"/>
                  </a:cubicBezTo>
                  <a:cubicBezTo>
                    <a:pt x="1281730" y="507426"/>
                    <a:pt x="1313128" y="534772"/>
                    <a:pt x="1338448" y="571234"/>
                  </a:cubicBezTo>
                  <a:cubicBezTo>
                    <a:pt x="1363769" y="607696"/>
                    <a:pt x="1376429" y="654286"/>
                    <a:pt x="1376429" y="711004"/>
                  </a:cubicBezTo>
                  <a:cubicBezTo>
                    <a:pt x="1376429" y="773799"/>
                    <a:pt x="1362250" y="826972"/>
                    <a:pt x="1333890" y="870524"/>
                  </a:cubicBezTo>
                  <a:cubicBezTo>
                    <a:pt x="1305532" y="914075"/>
                    <a:pt x="1268057" y="946992"/>
                    <a:pt x="1221467" y="969274"/>
                  </a:cubicBezTo>
                  <a:cubicBezTo>
                    <a:pt x="1174877" y="991556"/>
                    <a:pt x="1125248" y="1002697"/>
                    <a:pt x="1072582" y="1002697"/>
                  </a:cubicBezTo>
                  <a:cubicBezTo>
                    <a:pt x="999658" y="1002697"/>
                    <a:pt x="938382" y="985479"/>
                    <a:pt x="888754" y="951043"/>
                  </a:cubicBezTo>
                  <a:cubicBezTo>
                    <a:pt x="839126" y="916607"/>
                    <a:pt x="802664" y="871030"/>
                    <a:pt x="779369" y="814312"/>
                  </a:cubicBezTo>
                  <a:cubicBezTo>
                    <a:pt x="756074" y="757594"/>
                    <a:pt x="744426" y="696824"/>
                    <a:pt x="744426" y="632003"/>
                  </a:cubicBezTo>
                  <a:cubicBezTo>
                    <a:pt x="744426" y="538823"/>
                    <a:pt x="764176" y="450708"/>
                    <a:pt x="803677" y="367656"/>
                  </a:cubicBezTo>
                  <a:cubicBezTo>
                    <a:pt x="843177" y="284604"/>
                    <a:pt x="894831" y="211175"/>
                    <a:pt x="958639" y="147366"/>
                  </a:cubicBezTo>
                  <a:cubicBezTo>
                    <a:pt x="1022447" y="83559"/>
                    <a:pt x="1091826" y="34436"/>
                    <a:pt x="1166774" y="0"/>
                  </a:cubicBezTo>
                  <a:close/>
                  <a:moveTo>
                    <a:pt x="422348" y="0"/>
                  </a:moveTo>
                  <a:lnTo>
                    <a:pt x="632003" y="154963"/>
                  </a:lnTo>
                  <a:cubicBezTo>
                    <a:pt x="577311" y="179270"/>
                    <a:pt x="525656" y="208136"/>
                    <a:pt x="477041" y="241559"/>
                  </a:cubicBezTo>
                  <a:cubicBezTo>
                    <a:pt x="428425" y="274983"/>
                    <a:pt x="386393" y="311951"/>
                    <a:pt x="350944" y="352464"/>
                  </a:cubicBezTo>
                  <a:cubicBezTo>
                    <a:pt x="315495" y="392976"/>
                    <a:pt x="288655" y="434502"/>
                    <a:pt x="270424" y="477041"/>
                  </a:cubicBezTo>
                  <a:lnTo>
                    <a:pt x="285617" y="486157"/>
                  </a:lnTo>
                  <a:cubicBezTo>
                    <a:pt x="297771" y="478054"/>
                    <a:pt x="311444" y="471977"/>
                    <a:pt x="326636" y="467926"/>
                  </a:cubicBezTo>
                  <a:cubicBezTo>
                    <a:pt x="341829" y="463874"/>
                    <a:pt x="362591" y="461849"/>
                    <a:pt x="388925" y="461849"/>
                  </a:cubicBezTo>
                  <a:cubicBezTo>
                    <a:pt x="425387" y="461849"/>
                    <a:pt x="462355" y="470964"/>
                    <a:pt x="499829" y="489195"/>
                  </a:cubicBezTo>
                  <a:cubicBezTo>
                    <a:pt x="537304" y="507426"/>
                    <a:pt x="568701" y="534772"/>
                    <a:pt x="594022" y="571234"/>
                  </a:cubicBezTo>
                  <a:cubicBezTo>
                    <a:pt x="619343" y="607696"/>
                    <a:pt x="632003" y="654286"/>
                    <a:pt x="632003" y="711004"/>
                  </a:cubicBezTo>
                  <a:cubicBezTo>
                    <a:pt x="632003" y="773799"/>
                    <a:pt x="617823" y="826972"/>
                    <a:pt x="589464" y="870524"/>
                  </a:cubicBezTo>
                  <a:cubicBezTo>
                    <a:pt x="561105" y="914075"/>
                    <a:pt x="523631" y="946992"/>
                    <a:pt x="477041" y="969274"/>
                  </a:cubicBezTo>
                  <a:cubicBezTo>
                    <a:pt x="430451" y="991556"/>
                    <a:pt x="380822" y="1002697"/>
                    <a:pt x="328156" y="1002697"/>
                  </a:cubicBezTo>
                  <a:cubicBezTo>
                    <a:pt x="255232" y="1002697"/>
                    <a:pt x="193956" y="985479"/>
                    <a:pt x="144328" y="951043"/>
                  </a:cubicBezTo>
                  <a:cubicBezTo>
                    <a:pt x="94699" y="916607"/>
                    <a:pt x="58238" y="871030"/>
                    <a:pt x="34943" y="814312"/>
                  </a:cubicBezTo>
                  <a:cubicBezTo>
                    <a:pt x="11648" y="757594"/>
                    <a:pt x="0" y="696824"/>
                    <a:pt x="0" y="632003"/>
                  </a:cubicBezTo>
                  <a:cubicBezTo>
                    <a:pt x="0" y="538823"/>
                    <a:pt x="19750" y="450708"/>
                    <a:pt x="59250" y="367656"/>
                  </a:cubicBezTo>
                  <a:cubicBezTo>
                    <a:pt x="98751" y="284604"/>
                    <a:pt x="150405" y="211175"/>
                    <a:pt x="214213" y="147366"/>
                  </a:cubicBezTo>
                  <a:cubicBezTo>
                    <a:pt x="278021" y="83559"/>
                    <a:pt x="347399" y="34436"/>
                    <a:pt x="422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ID" sz="23900" b="1" dirty="0">
                <a:solidFill>
                  <a:schemeClr val="accent2"/>
                </a:solidFill>
                <a:latin typeface="Saturday Sans Regular" panose="02010600010101010101" charset="-122"/>
                <a:cs typeface="Active SemiBold" charset="0"/>
                <a:sym typeface="Saturday Sans Regular" panose="02010600010101010101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 rot="10800000">
              <a:off x="6718325" y="1323122"/>
              <a:ext cx="754005" cy="549275"/>
            </a:xfrm>
            <a:custGeom>
              <a:avLst/>
              <a:gdLst/>
              <a:ahLst/>
              <a:cxnLst/>
              <a:rect l="l" t="t" r="r" b="b"/>
              <a:pathLst>
                <a:path w="1376429" h="1002697">
                  <a:moveTo>
                    <a:pt x="1166774" y="0"/>
                  </a:moveTo>
                  <a:lnTo>
                    <a:pt x="1376429" y="154963"/>
                  </a:lnTo>
                  <a:cubicBezTo>
                    <a:pt x="1321736" y="179270"/>
                    <a:pt x="1270082" y="208136"/>
                    <a:pt x="1221467" y="241559"/>
                  </a:cubicBezTo>
                  <a:cubicBezTo>
                    <a:pt x="1172851" y="274983"/>
                    <a:pt x="1130819" y="311951"/>
                    <a:pt x="1095370" y="352464"/>
                  </a:cubicBezTo>
                  <a:cubicBezTo>
                    <a:pt x="1059922" y="392976"/>
                    <a:pt x="1033082" y="434502"/>
                    <a:pt x="1014850" y="477041"/>
                  </a:cubicBezTo>
                  <a:lnTo>
                    <a:pt x="1030043" y="486157"/>
                  </a:lnTo>
                  <a:cubicBezTo>
                    <a:pt x="1042197" y="478054"/>
                    <a:pt x="1055870" y="471977"/>
                    <a:pt x="1071062" y="467926"/>
                  </a:cubicBezTo>
                  <a:cubicBezTo>
                    <a:pt x="1086255" y="463874"/>
                    <a:pt x="1107018" y="461849"/>
                    <a:pt x="1133351" y="461849"/>
                  </a:cubicBezTo>
                  <a:cubicBezTo>
                    <a:pt x="1169813" y="461849"/>
                    <a:pt x="1206781" y="470964"/>
                    <a:pt x="1244256" y="489195"/>
                  </a:cubicBezTo>
                  <a:cubicBezTo>
                    <a:pt x="1281730" y="507426"/>
                    <a:pt x="1313128" y="534772"/>
                    <a:pt x="1338448" y="571234"/>
                  </a:cubicBezTo>
                  <a:cubicBezTo>
                    <a:pt x="1363769" y="607696"/>
                    <a:pt x="1376429" y="654286"/>
                    <a:pt x="1376429" y="711004"/>
                  </a:cubicBezTo>
                  <a:cubicBezTo>
                    <a:pt x="1376429" y="773799"/>
                    <a:pt x="1362250" y="826972"/>
                    <a:pt x="1333890" y="870524"/>
                  </a:cubicBezTo>
                  <a:cubicBezTo>
                    <a:pt x="1305532" y="914075"/>
                    <a:pt x="1268057" y="946992"/>
                    <a:pt x="1221467" y="969274"/>
                  </a:cubicBezTo>
                  <a:cubicBezTo>
                    <a:pt x="1174877" y="991556"/>
                    <a:pt x="1125248" y="1002697"/>
                    <a:pt x="1072582" y="1002697"/>
                  </a:cubicBezTo>
                  <a:cubicBezTo>
                    <a:pt x="999658" y="1002697"/>
                    <a:pt x="938382" y="985479"/>
                    <a:pt x="888754" y="951043"/>
                  </a:cubicBezTo>
                  <a:cubicBezTo>
                    <a:pt x="839126" y="916607"/>
                    <a:pt x="802664" y="871030"/>
                    <a:pt x="779369" y="814312"/>
                  </a:cubicBezTo>
                  <a:cubicBezTo>
                    <a:pt x="756074" y="757594"/>
                    <a:pt x="744426" y="696824"/>
                    <a:pt x="744426" y="632003"/>
                  </a:cubicBezTo>
                  <a:cubicBezTo>
                    <a:pt x="744426" y="538823"/>
                    <a:pt x="764176" y="450708"/>
                    <a:pt x="803677" y="367656"/>
                  </a:cubicBezTo>
                  <a:cubicBezTo>
                    <a:pt x="843177" y="284604"/>
                    <a:pt x="894831" y="211175"/>
                    <a:pt x="958639" y="147366"/>
                  </a:cubicBezTo>
                  <a:cubicBezTo>
                    <a:pt x="1022447" y="83559"/>
                    <a:pt x="1091826" y="34436"/>
                    <a:pt x="1166774" y="0"/>
                  </a:cubicBezTo>
                  <a:close/>
                  <a:moveTo>
                    <a:pt x="422348" y="0"/>
                  </a:moveTo>
                  <a:lnTo>
                    <a:pt x="632003" y="154963"/>
                  </a:lnTo>
                  <a:cubicBezTo>
                    <a:pt x="577311" y="179270"/>
                    <a:pt x="525656" y="208136"/>
                    <a:pt x="477041" y="241559"/>
                  </a:cubicBezTo>
                  <a:cubicBezTo>
                    <a:pt x="428425" y="274983"/>
                    <a:pt x="386393" y="311951"/>
                    <a:pt x="350944" y="352464"/>
                  </a:cubicBezTo>
                  <a:cubicBezTo>
                    <a:pt x="315495" y="392976"/>
                    <a:pt x="288655" y="434502"/>
                    <a:pt x="270424" y="477041"/>
                  </a:cubicBezTo>
                  <a:lnTo>
                    <a:pt x="285617" y="486157"/>
                  </a:lnTo>
                  <a:cubicBezTo>
                    <a:pt x="297771" y="478054"/>
                    <a:pt x="311444" y="471977"/>
                    <a:pt x="326636" y="467926"/>
                  </a:cubicBezTo>
                  <a:cubicBezTo>
                    <a:pt x="341829" y="463874"/>
                    <a:pt x="362591" y="461849"/>
                    <a:pt x="388925" y="461849"/>
                  </a:cubicBezTo>
                  <a:cubicBezTo>
                    <a:pt x="425387" y="461849"/>
                    <a:pt x="462355" y="470964"/>
                    <a:pt x="499829" y="489195"/>
                  </a:cubicBezTo>
                  <a:cubicBezTo>
                    <a:pt x="537304" y="507426"/>
                    <a:pt x="568701" y="534772"/>
                    <a:pt x="594022" y="571234"/>
                  </a:cubicBezTo>
                  <a:cubicBezTo>
                    <a:pt x="619343" y="607696"/>
                    <a:pt x="632003" y="654286"/>
                    <a:pt x="632003" y="711004"/>
                  </a:cubicBezTo>
                  <a:cubicBezTo>
                    <a:pt x="632003" y="773799"/>
                    <a:pt x="617823" y="826972"/>
                    <a:pt x="589464" y="870524"/>
                  </a:cubicBezTo>
                  <a:cubicBezTo>
                    <a:pt x="561105" y="914075"/>
                    <a:pt x="523631" y="946992"/>
                    <a:pt x="477041" y="969274"/>
                  </a:cubicBezTo>
                  <a:cubicBezTo>
                    <a:pt x="430451" y="991556"/>
                    <a:pt x="380822" y="1002697"/>
                    <a:pt x="328156" y="1002697"/>
                  </a:cubicBezTo>
                  <a:cubicBezTo>
                    <a:pt x="255232" y="1002697"/>
                    <a:pt x="193956" y="985479"/>
                    <a:pt x="144328" y="951043"/>
                  </a:cubicBezTo>
                  <a:cubicBezTo>
                    <a:pt x="94699" y="916607"/>
                    <a:pt x="58238" y="871030"/>
                    <a:pt x="34943" y="814312"/>
                  </a:cubicBezTo>
                  <a:cubicBezTo>
                    <a:pt x="11648" y="757594"/>
                    <a:pt x="0" y="696824"/>
                    <a:pt x="0" y="632003"/>
                  </a:cubicBezTo>
                  <a:cubicBezTo>
                    <a:pt x="0" y="538823"/>
                    <a:pt x="19750" y="450708"/>
                    <a:pt x="59250" y="367656"/>
                  </a:cubicBezTo>
                  <a:cubicBezTo>
                    <a:pt x="98751" y="284604"/>
                    <a:pt x="150405" y="211175"/>
                    <a:pt x="214213" y="147366"/>
                  </a:cubicBezTo>
                  <a:cubicBezTo>
                    <a:pt x="278021" y="83559"/>
                    <a:pt x="347399" y="34436"/>
                    <a:pt x="422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ID" sz="23900" b="1" dirty="0">
                <a:solidFill>
                  <a:schemeClr val="accent2"/>
                </a:solidFill>
                <a:latin typeface="Saturday Sans Regular" panose="02010600010101010101" charset="-122"/>
                <a:cs typeface="Active SemiBold" charset="0"/>
                <a:sym typeface="Saturday Sans Regular" panose="02010600010101010101" charset="-122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528383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  <a:p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56690" y="1186815"/>
            <a:ext cx="5433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08930" y="858520"/>
            <a:ext cx="58451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latin typeface="WPS灵秀黑" charset="-122"/>
                <a:ea typeface="WPS灵秀黑" charset="-122"/>
              </a:rPr>
              <a:t>智能问答与辅助决策</a:t>
            </a:r>
            <a:endParaRPr lang="zh-CN" altLang="en-US" sz="4800">
              <a:latin typeface="WPS灵秀黑" charset="-122"/>
              <a:ea typeface="WPS灵秀黑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365" y="2243455"/>
            <a:ext cx="3882390" cy="1499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365" y="3718560"/>
            <a:ext cx="3927475" cy="26479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4550" y="1646555"/>
            <a:ext cx="237934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zh-CN" altLang="en-US" sz="2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知识库问答</a:t>
            </a:r>
            <a:endParaRPr lang="zh-CN" altLang="en-US" sz="28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44550" y="2226945"/>
            <a:ext cx="287909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MaxKB 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内置知识库，</a:t>
            </a:r>
            <a:endParaRPr lang="zh-CN" altLang="en-US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支持解答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</a:t>
            </a:r>
            <a:endParaRPr lang="en-US" altLang="zh-CN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“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趋势分计算规则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</a:t>
            </a:r>
            <a:endParaRPr lang="en-US" altLang="zh-CN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“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关联关系判定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依据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</a:t>
            </a:r>
            <a:endParaRPr lang="en-US" altLang="zh-CN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“OpenRank 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含义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</a:t>
            </a:r>
            <a:endParaRPr lang="en-US" altLang="zh-CN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“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技术标签分类标准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 </a:t>
            </a:r>
            <a:endParaRPr lang="en-US" altLang="zh-CN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等技术问题，</a:t>
            </a:r>
            <a:endParaRPr lang="zh-CN" altLang="en-US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降低非技术用户门槛</a:t>
            </a:r>
            <a:endParaRPr lang="zh-CN" altLang="en-US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30" name="Rectangle: Rounded Corners 15"/>
          <p:cNvSpPr/>
          <p:nvPr/>
        </p:nvSpPr>
        <p:spPr>
          <a:xfrm>
            <a:off x="8370570" y="4341495"/>
            <a:ext cx="2964180" cy="2025650"/>
          </a:xfrm>
          <a:prstGeom prst="roundRect">
            <a:avLst>
              <a:gd name="adj" fmla="val 13937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37" name="TextBox 19"/>
          <p:cNvSpPr txBox="1"/>
          <p:nvPr/>
        </p:nvSpPr>
        <p:spPr>
          <a:xfrm>
            <a:off x="8459470" y="4479290"/>
            <a:ext cx="237934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zh-CN" altLang="en-US" sz="2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决策辅助提示</a:t>
            </a:r>
            <a:endParaRPr lang="zh-CN" altLang="en-US" sz="28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77885" y="5059680"/>
            <a:ext cx="27495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针对开发者提供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“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技术选型建议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，针对维护者提供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“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生态定位分析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</a:t>
            </a:r>
            <a:endParaRPr lang="en-US" altLang="zh-CN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45" name="Rectangle: Rounded Corners 15"/>
          <p:cNvSpPr/>
          <p:nvPr/>
        </p:nvSpPr>
        <p:spPr>
          <a:xfrm>
            <a:off x="7940040" y="1769745"/>
            <a:ext cx="3884930" cy="2126615"/>
          </a:xfrm>
          <a:prstGeom prst="roundRect">
            <a:avLst>
              <a:gd name="adj" fmla="val 13937"/>
            </a:avLst>
          </a:prstGeom>
          <a:solidFill>
            <a:srgbClr val="FEDB5E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46" name="TextBox 19"/>
          <p:cNvSpPr txBox="1"/>
          <p:nvPr/>
        </p:nvSpPr>
        <p:spPr>
          <a:xfrm>
            <a:off x="8133715" y="1889760"/>
            <a:ext cx="237934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zh-CN" altLang="en-US" sz="2800" dirty="0">
                <a:solidFill>
                  <a:schemeClr val="accent1"/>
                </a:solidFill>
                <a:latin typeface="等线 Light" panose="02010600030101010101" charset="-122"/>
                <a:ea typeface="等线 Light" panose="02010600030101010101" charset="-122"/>
              </a:rPr>
              <a:t>智能搜索聚焦</a:t>
            </a:r>
            <a:endParaRPr lang="zh-CN" altLang="en-US" sz="2800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083550" y="2382520"/>
            <a:ext cx="369887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支持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SQLBot 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自然语言查询</a:t>
            </a:r>
            <a:endParaRPr lang="zh-CN" altLang="en-US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(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如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“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最近一个月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 Python 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生态增长最快的项目是什么？</a:t>
            </a:r>
            <a:r>
              <a:rPr lang="en-US" altLang="zh-CN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”)</a:t>
            </a:r>
            <a:r>
              <a:rPr lang="zh-CN" altLang="en-US" sz="2000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，实现动态中心探索。</a:t>
            </a:r>
            <a:endParaRPr lang="zh-CN" altLang="en-US" sz="2000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528383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功能</a:t>
            </a:r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展示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accent2"/>
              </a:solidFill>
              <a:latin typeface="+mj-lt"/>
              <a:cs typeface="Active SemiBold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" y="796925"/>
            <a:ext cx="4098925" cy="53301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175" y="796925"/>
            <a:ext cx="4320540" cy="53168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695" y="842645"/>
            <a:ext cx="3547110" cy="52844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280" y="5356860"/>
            <a:ext cx="2058670" cy="13963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蓝色简约科技风科技发展峰会宣传微信公众号封面"/>
          <p:cNvPicPr>
            <a:picLocks noChangeAspect="1"/>
          </p:cNvPicPr>
          <p:nvPr/>
        </p:nvPicPr>
        <p:blipFill>
          <a:blip r:embed="rId1"/>
          <a:srcRect l="22600" r="30119"/>
          <a:stretch>
            <a:fillRect/>
          </a:stretch>
        </p:blipFill>
        <p:spPr>
          <a:xfrm>
            <a:off x="-3644265" y="3881755"/>
            <a:ext cx="8651240" cy="7786370"/>
          </a:xfrm>
          <a:prstGeom prst="rect">
            <a:avLst/>
          </a:prstGeom>
        </p:spPr>
      </p:pic>
      <p:sp>
        <p:nvSpPr>
          <p:cNvPr id="7" name="Freeform: Shape 27"/>
          <p:cNvSpPr/>
          <p:nvPr/>
        </p:nvSpPr>
        <p:spPr>
          <a:xfrm rot="10800000">
            <a:off x="7763799" y="3751174"/>
            <a:ext cx="4574731" cy="3116122"/>
          </a:xfrm>
          <a:custGeom>
            <a:avLst/>
            <a:gdLst>
              <a:gd name="connsiteX0" fmla="*/ 3810 w 5520690"/>
              <a:gd name="connsiteY0" fmla="*/ 0 h 3760471"/>
              <a:gd name="connsiteX1" fmla="*/ 250711 w 5520690"/>
              <a:gd name="connsiteY1" fmla="*/ 0 h 3760471"/>
              <a:gd name="connsiteX2" fmla="*/ 5266169 w 5520690"/>
              <a:gd name="connsiteY2" fmla="*/ 0 h 3760471"/>
              <a:gd name="connsiteX3" fmla="*/ 5520690 w 5520690"/>
              <a:gd name="connsiteY3" fmla="*/ 0 h 3760471"/>
              <a:gd name="connsiteX4" fmla="*/ 5520690 w 5520690"/>
              <a:gd name="connsiteY4" fmla="*/ 2354580 h 3760471"/>
              <a:gd name="connsiteX5" fmla="*/ 5516880 w 5520690"/>
              <a:gd name="connsiteY5" fmla="*/ 2354580 h 3760471"/>
              <a:gd name="connsiteX6" fmla="*/ 5516880 w 5520690"/>
              <a:gd name="connsiteY6" fmla="*/ 3509760 h 3760471"/>
              <a:gd name="connsiteX7" fmla="*/ 5266169 w 5520690"/>
              <a:gd name="connsiteY7" fmla="*/ 3760471 h 3760471"/>
              <a:gd name="connsiteX8" fmla="*/ 250711 w 5520690"/>
              <a:gd name="connsiteY8" fmla="*/ 3760471 h 3760471"/>
              <a:gd name="connsiteX9" fmla="*/ 0 w 5520690"/>
              <a:gd name="connsiteY9" fmla="*/ 3509760 h 3760471"/>
              <a:gd name="connsiteX10" fmla="*/ 0 w 5520690"/>
              <a:gd name="connsiteY10" fmla="*/ 250711 h 3760471"/>
              <a:gd name="connsiteX11" fmla="*/ 3810 w 5520690"/>
              <a:gd name="connsiteY11" fmla="*/ 231839 h 3760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20690" h="3760471">
                <a:moveTo>
                  <a:pt x="3810" y="0"/>
                </a:moveTo>
                <a:lnTo>
                  <a:pt x="250711" y="0"/>
                </a:lnTo>
                <a:lnTo>
                  <a:pt x="5266169" y="0"/>
                </a:lnTo>
                <a:lnTo>
                  <a:pt x="5520690" y="0"/>
                </a:lnTo>
                <a:lnTo>
                  <a:pt x="5520690" y="2354580"/>
                </a:lnTo>
                <a:lnTo>
                  <a:pt x="5516880" y="2354580"/>
                </a:lnTo>
                <a:lnTo>
                  <a:pt x="5516880" y="3509760"/>
                </a:lnTo>
                <a:cubicBezTo>
                  <a:pt x="5516880" y="3648224"/>
                  <a:pt x="5404633" y="3760471"/>
                  <a:pt x="5266169" y="3760471"/>
                </a:cubicBezTo>
                <a:lnTo>
                  <a:pt x="250711" y="3760471"/>
                </a:lnTo>
                <a:cubicBezTo>
                  <a:pt x="112247" y="3760471"/>
                  <a:pt x="0" y="3648224"/>
                  <a:pt x="0" y="3509760"/>
                </a:cubicBezTo>
                <a:lnTo>
                  <a:pt x="0" y="250711"/>
                </a:lnTo>
                <a:lnTo>
                  <a:pt x="3810" y="23183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7917536" y="4010889"/>
            <a:ext cx="4165657" cy="284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9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ctive SemiBold" charset="0"/>
              </a:rPr>
              <a:t>04</a:t>
            </a:r>
            <a:endParaRPr lang="en-US" sz="199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ctive SemiBold" charset="0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1797685" y="2808052"/>
            <a:ext cx="6900546" cy="2971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ID" dirty="0">
                <a:latin typeface="等线 Light" panose="02010600030101010101" charset="-122"/>
                <a:ea typeface="等线 Light" panose="02010600030101010101" charset="-122"/>
                <a:cs typeface="Crunch SemiBold" charset="0"/>
                <a:sym typeface="+mn-ea"/>
              </a:rPr>
              <a:t>Project Value &amp; </a:t>
            </a:r>
            <a:endParaRPr lang="en-ID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  <a:cs typeface="Crunch SemiBold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ID" dirty="0">
                <a:latin typeface="等线 Light" panose="02010600030101010101" charset="-122"/>
                <a:ea typeface="等线 Light" panose="02010600030101010101" charset="-122"/>
                <a:cs typeface="Crunch SemiBold" charset="0"/>
                <a:sym typeface="+mn-ea"/>
              </a:rPr>
              <a:t>Future Plans</a:t>
            </a:r>
            <a:endParaRPr lang="en-ID" dirty="0">
              <a:solidFill>
                <a:schemeClr val="accent1"/>
              </a:solidFill>
              <a:latin typeface="等线 Light" panose="02010600030101010101" charset="-122"/>
              <a:ea typeface="等线 Light" panose="02010600030101010101" charset="-122"/>
              <a:cs typeface="Crunch SemiBold" charset="0"/>
            </a:endParaRPr>
          </a:p>
          <a:p>
            <a:pPr>
              <a:lnSpc>
                <a:spcPct val="130000"/>
              </a:lnSpc>
            </a:pPr>
            <a:endParaRPr lang="en-ID" dirty="0">
              <a:latin typeface="等线 Light" panose="02010600030101010101" charset="-122"/>
              <a:ea typeface="等线 Light" panose="02010600030101010101" charset="-122"/>
              <a:cs typeface="Active SemiBold" charset="0"/>
            </a:endParaRPr>
          </a:p>
        </p:txBody>
      </p:sp>
      <p:sp>
        <p:nvSpPr>
          <p:cNvPr id="16" name="Rectangle: Rounded Corners 9"/>
          <p:cNvSpPr/>
          <p:nvPr/>
        </p:nvSpPr>
        <p:spPr>
          <a:xfrm>
            <a:off x="706755" y="5797550"/>
            <a:ext cx="2738967" cy="51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0" name="Oval 10"/>
          <p:cNvSpPr/>
          <p:nvPr/>
        </p:nvSpPr>
        <p:spPr>
          <a:xfrm>
            <a:off x="3599459" y="5797550"/>
            <a:ext cx="511175" cy="5111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1" name="任意形状 658"/>
          <p:cNvSpPr/>
          <p:nvPr/>
        </p:nvSpPr>
        <p:spPr>
          <a:xfrm>
            <a:off x="3747163" y="5947900"/>
            <a:ext cx="220000" cy="2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lose/>
                <a:moveTo>
                  <a:pt x="10800" y="19440"/>
                </a:moveTo>
                <a:cubicBezTo>
                  <a:pt x="15572" y="19440"/>
                  <a:pt x="19440" y="15572"/>
                  <a:pt x="19440" y="10800"/>
                </a:cubicBezTo>
                <a:cubicBezTo>
                  <a:pt x="19440" y="6028"/>
                  <a:pt x="15572" y="2160"/>
                  <a:pt x="10800" y="2160"/>
                </a:cubicBezTo>
                <a:cubicBezTo>
                  <a:pt x="6028" y="2160"/>
                  <a:pt x="2160" y="6028"/>
                  <a:pt x="2160" y="10800"/>
                </a:cubicBezTo>
                <a:cubicBezTo>
                  <a:pt x="2160" y="15572"/>
                  <a:pt x="6028" y="19440"/>
                  <a:pt x="10800" y="19440"/>
                </a:cubicBezTo>
                <a:close/>
                <a:moveTo>
                  <a:pt x="9720" y="15120"/>
                </a:moveTo>
                <a:lnTo>
                  <a:pt x="6480" y="15120"/>
                </a:lnTo>
                <a:lnTo>
                  <a:pt x="6480" y="6480"/>
                </a:lnTo>
                <a:lnTo>
                  <a:pt x="9720" y="6480"/>
                </a:lnTo>
                <a:lnTo>
                  <a:pt x="9720" y="4320"/>
                </a:lnTo>
                <a:lnTo>
                  <a:pt x="11880" y="4320"/>
                </a:lnTo>
                <a:lnTo>
                  <a:pt x="11880" y="6480"/>
                </a:lnTo>
                <a:lnTo>
                  <a:pt x="12960" y="6480"/>
                </a:lnTo>
                <a:cubicBezTo>
                  <a:pt x="14451" y="6480"/>
                  <a:pt x="15660" y="7689"/>
                  <a:pt x="15660" y="9180"/>
                </a:cubicBezTo>
                <a:cubicBezTo>
                  <a:pt x="15660" y="9764"/>
                  <a:pt x="15470" y="10333"/>
                  <a:pt x="15120" y="10800"/>
                </a:cubicBezTo>
                <a:cubicBezTo>
                  <a:pt x="16015" y="11993"/>
                  <a:pt x="15773" y="13685"/>
                  <a:pt x="14580" y="14580"/>
                </a:cubicBezTo>
                <a:cubicBezTo>
                  <a:pt x="14113" y="14931"/>
                  <a:pt x="13544" y="15120"/>
                  <a:pt x="12960" y="15120"/>
                </a:cubicBezTo>
                <a:lnTo>
                  <a:pt x="11880" y="15120"/>
                </a:lnTo>
                <a:lnTo>
                  <a:pt x="11880" y="17280"/>
                </a:lnTo>
                <a:lnTo>
                  <a:pt x="9720" y="17280"/>
                </a:lnTo>
                <a:lnTo>
                  <a:pt x="9720" y="15120"/>
                </a:lnTo>
                <a:close/>
                <a:moveTo>
                  <a:pt x="8640" y="11880"/>
                </a:moveTo>
                <a:lnTo>
                  <a:pt x="8640" y="12960"/>
                </a:lnTo>
                <a:lnTo>
                  <a:pt x="12960" y="12960"/>
                </a:lnTo>
                <a:cubicBezTo>
                  <a:pt x="13258" y="12960"/>
                  <a:pt x="13500" y="12718"/>
                  <a:pt x="13500" y="12420"/>
                </a:cubicBezTo>
                <a:cubicBezTo>
                  <a:pt x="13500" y="12122"/>
                  <a:pt x="13258" y="11880"/>
                  <a:pt x="12960" y="11880"/>
                </a:cubicBezTo>
                <a:lnTo>
                  <a:pt x="8640" y="11880"/>
                </a:lnTo>
                <a:close/>
                <a:moveTo>
                  <a:pt x="8640" y="8640"/>
                </a:moveTo>
                <a:lnTo>
                  <a:pt x="8640" y="9720"/>
                </a:lnTo>
                <a:lnTo>
                  <a:pt x="12960" y="9720"/>
                </a:lnTo>
                <a:cubicBezTo>
                  <a:pt x="13258" y="9720"/>
                  <a:pt x="13500" y="9478"/>
                  <a:pt x="13500" y="9180"/>
                </a:cubicBezTo>
                <a:cubicBezTo>
                  <a:pt x="13500" y="8882"/>
                  <a:pt x="13258" y="8640"/>
                  <a:pt x="12960" y="8640"/>
                </a:cubicBezTo>
                <a:lnTo>
                  <a:pt x="8640" y="864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2" name="TextBox 12"/>
          <p:cNvSpPr txBox="1"/>
          <p:nvPr/>
        </p:nvSpPr>
        <p:spPr>
          <a:xfrm>
            <a:off x="854907" y="5909572"/>
            <a:ext cx="2442662" cy="28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algn="ctr"/>
            <a:r>
              <a:rPr lang="en-US" altLang="en-ID" sz="1400" dirty="0">
                <a:solidFill>
                  <a:schemeClr val="accent1"/>
                </a:solidFill>
              </a:rPr>
              <a:t>Part 4</a:t>
            </a:r>
            <a:endParaRPr lang="en-US" altLang="en-ID" sz="1400" dirty="0">
              <a:solidFill>
                <a:schemeClr val="accent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4960" y="1461770"/>
            <a:ext cx="94056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dirty="0">
                <a:solidFill>
                  <a:schemeClr val="accent1"/>
                </a:solidFill>
                <a:latin typeface="方正大标宋简体" panose="02000000000000000000" charset="-122"/>
                <a:ea typeface="方正大标宋简体" panose="02000000000000000000" charset="-122"/>
                <a:sym typeface="+mn-ea"/>
              </a:rPr>
              <a:t>项目价值与未来计划</a:t>
            </a:r>
            <a:endParaRPr lang="zh-CN" altLang="en-US" sz="6600" dirty="0">
              <a:solidFill>
                <a:schemeClr val="accent1"/>
              </a:solidFill>
              <a:latin typeface="方正大标宋简体" panose="02000000000000000000" charset="-122"/>
              <a:ea typeface="方正大标宋简体" panose="02000000000000000000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770064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  <a:p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pic>
        <p:nvPicPr>
          <p:cNvPr id="3" name="图片 2" descr="紫色简约商务风流程图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520" y="393700"/>
            <a:ext cx="6200140" cy="3488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紫色简约商务风流程图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75180" y="943610"/>
            <a:ext cx="10115550" cy="5690235"/>
          </a:xfrm>
          <a:prstGeom prst="rect">
            <a:avLst/>
          </a:prstGeom>
        </p:spPr>
      </p:pic>
      <p:pic>
        <p:nvPicPr>
          <p:cNvPr id="9" name="图片 8" descr="紫色简约商务风流程图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9135" y="943610"/>
            <a:ext cx="10115550" cy="5690235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4044950" y="3876675"/>
            <a:ext cx="4497705" cy="41249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pic>
        <p:nvPicPr>
          <p:cNvPr id="5" name="图片 4" descr="紫色简约商务风流程图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325" y="1341120"/>
            <a:ext cx="10115550" cy="5690235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770064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69180" y="2087245"/>
            <a:ext cx="28498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latin typeface="WPS灵秀黑" charset="-122"/>
                <a:ea typeface="WPS灵秀黑" charset="-122"/>
              </a:rPr>
              <a:t>对</a:t>
            </a:r>
            <a:endParaRPr lang="zh-CN" altLang="en-US" sz="3600">
              <a:latin typeface="WPS灵秀黑" charset="-122"/>
              <a:ea typeface="WPS灵秀黑" charset="-122"/>
            </a:endParaRPr>
          </a:p>
          <a:p>
            <a:pPr algn="ctr"/>
            <a:r>
              <a:rPr lang="zh-CN" altLang="en-US" sz="3600">
                <a:latin typeface="WPS灵秀黑" charset="-122"/>
                <a:ea typeface="WPS灵秀黑" charset="-122"/>
              </a:rPr>
              <a:t>开发者</a:t>
            </a:r>
            <a:endParaRPr lang="zh-CN" altLang="en-US" sz="3600">
              <a:latin typeface="WPS灵秀黑" charset="-122"/>
              <a:ea typeface="WPS灵秀黑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17135" y="4479925"/>
            <a:ext cx="28498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快速定位</a:t>
            </a:r>
            <a:endParaRPr lang="zh-CN" altLang="en-US" sz="28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algn="ctr"/>
            <a:r>
              <a:rPr lang="en-US" altLang="zh-CN" sz="28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“</a:t>
            </a:r>
            <a:r>
              <a:rPr lang="zh-CN" altLang="en-US" sz="28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技术邻居</a:t>
            </a:r>
            <a:r>
              <a:rPr lang="en-US" altLang="zh-CN" sz="28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”</a:t>
            </a:r>
            <a:r>
              <a:rPr lang="zh-CN" altLang="en-US" sz="28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，</a:t>
            </a:r>
            <a:endParaRPr lang="zh-CN" altLang="en-US" sz="28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algn="ctr"/>
            <a:r>
              <a:rPr lang="zh-CN" altLang="en-US" sz="28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辅助技术选型</a:t>
            </a:r>
            <a:endParaRPr lang="zh-CN" altLang="en-US" sz="28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92860" y="1794510"/>
            <a:ext cx="28498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latin typeface="WPS灵秀黑" charset="-122"/>
                <a:ea typeface="WPS灵秀黑" charset="-122"/>
              </a:rPr>
              <a:t>对</a:t>
            </a:r>
            <a:endParaRPr lang="zh-CN" altLang="en-US" sz="3600">
              <a:latin typeface="WPS灵秀黑" charset="-122"/>
              <a:ea typeface="WPS灵秀黑" charset="-122"/>
            </a:endParaRPr>
          </a:p>
          <a:p>
            <a:pPr algn="ctr"/>
            <a:r>
              <a:rPr lang="zh-CN" altLang="en-US" sz="3600">
                <a:latin typeface="WPS灵秀黑" charset="-122"/>
                <a:ea typeface="WPS灵秀黑" charset="-122"/>
              </a:rPr>
              <a:t>维护者</a:t>
            </a:r>
            <a:endParaRPr lang="zh-CN" altLang="en-US" sz="3600">
              <a:latin typeface="WPS灵秀黑" charset="-122"/>
              <a:ea typeface="WPS灵秀黑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32865" y="4156075"/>
            <a:ext cx="28498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通过图中心性分析，</a:t>
            </a:r>
            <a:endParaRPr lang="zh-CN" altLang="en-US" sz="24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algn="ctr"/>
            <a:r>
              <a:rPr lang="zh-CN" altLang="en-US" sz="24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识别项目在</a:t>
            </a:r>
            <a:endParaRPr lang="zh-CN" altLang="en-US" sz="24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algn="ctr"/>
            <a:r>
              <a:rPr lang="zh-CN" altLang="en-US" sz="24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生态中的作用，</a:t>
            </a:r>
            <a:endParaRPr lang="zh-CN" altLang="en-US" sz="24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algn="ctr"/>
            <a:r>
              <a:rPr lang="zh-CN" altLang="en-US" sz="24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优化治理决策</a:t>
            </a:r>
            <a:endParaRPr lang="zh-CN" altLang="en-US" sz="24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954010" y="1693545"/>
            <a:ext cx="28498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latin typeface="WPS灵秀黑" charset="-122"/>
                <a:ea typeface="WPS灵秀黑" charset="-122"/>
              </a:rPr>
              <a:t>对</a:t>
            </a:r>
            <a:endParaRPr lang="zh-CN" altLang="en-US" sz="3600">
              <a:latin typeface="WPS灵秀黑" charset="-122"/>
              <a:ea typeface="WPS灵秀黑" charset="-122"/>
            </a:endParaRPr>
          </a:p>
          <a:p>
            <a:pPr algn="ctr"/>
            <a:r>
              <a:rPr lang="zh-CN" altLang="en-US" sz="3600">
                <a:latin typeface="WPS灵秀黑" charset="-122"/>
                <a:ea typeface="WPS灵秀黑" charset="-122"/>
              </a:rPr>
              <a:t>研究者</a:t>
            </a:r>
            <a:endParaRPr lang="zh-CN" altLang="en-US" sz="3600">
              <a:latin typeface="WPS灵秀黑" charset="-122"/>
              <a:ea typeface="WPS灵秀黑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83270" y="4445635"/>
            <a:ext cx="28498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识别潜力赛道，</a:t>
            </a:r>
            <a:endParaRPr lang="zh-CN" altLang="en-US" sz="24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pPr algn="ctr"/>
            <a:r>
              <a:rPr lang="zh-CN" altLang="en-US" sz="2400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</a:rPr>
              <a:t>捕捉社区演化趋势</a:t>
            </a:r>
            <a:endParaRPr lang="zh-CN" altLang="en-US" sz="2400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</p:txBody>
      </p:sp>
      <p:sp>
        <p:nvSpPr>
          <p:cNvPr id="17" name="TextBox 5"/>
          <p:cNvSpPr txBox="1"/>
          <p:nvPr/>
        </p:nvSpPr>
        <p:spPr>
          <a:xfrm>
            <a:off x="1979415" y="734876"/>
            <a:ext cx="825817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800" b="1">
                <a:solidFill>
                  <a:schemeClr val="accent1"/>
                </a:solidFill>
                <a:latin typeface="+mj-lt"/>
                <a:cs typeface="Space Grotesk SemiBold" pitchFamily="2" charset="0"/>
              </a:defRPr>
            </a:lvl1pPr>
          </a:lstStyle>
          <a:p>
            <a:r>
              <a:rPr lang="zh-CN" altLang="en-ID" dirty="0">
                <a:latin typeface="WPS灵秀黑" charset="-122"/>
                <a:ea typeface="WPS灵秀黑" charset="-122"/>
                <a:cs typeface="Active SemiBold" charset="0"/>
              </a:rPr>
              <a:t>项目价值</a:t>
            </a:r>
            <a:endParaRPr lang="zh-CN" altLang="en-ID" dirty="0">
              <a:latin typeface="WPS灵秀黑" charset="-122"/>
              <a:ea typeface="WPS灵秀黑" charset="-122"/>
              <a:cs typeface="Active SemiBold" charset="0"/>
            </a:endParaRPr>
          </a:p>
        </p:txBody>
      </p:sp>
      <p:cxnSp>
        <p:nvCxnSpPr>
          <p:cNvPr id="18" name="Straight Connector 7"/>
          <p:cNvCxnSpPr/>
          <p:nvPr/>
        </p:nvCxnSpPr>
        <p:spPr>
          <a:xfrm>
            <a:off x="7489614" y="1210876"/>
            <a:ext cx="4892675" cy="36195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0"/>
          <p:cNvCxnSpPr/>
          <p:nvPr/>
        </p:nvCxnSpPr>
        <p:spPr>
          <a:xfrm>
            <a:off x="-2" y="1186111"/>
            <a:ext cx="4639945" cy="1016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多彩简约商业计划书演示文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-635" y="-6985"/>
            <a:ext cx="12227560" cy="545465"/>
          </a:xfrm>
          <a:prstGeom prst="rect">
            <a:avLst/>
          </a:prstGeom>
          <a:solidFill>
            <a:srgbClr val="D8E8FD">
              <a:alpha val="5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4" name="Rectangle 4"/>
          <p:cNvSpPr/>
          <p:nvPr/>
        </p:nvSpPr>
        <p:spPr>
          <a:xfrm>
            <a:off x="7700645" y="-6985"/>
            <a:ext cx="2545715" cy="538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6" name="TextBox 1"/>
          <p:cNvSpPr txBox="1"/>
          <p:nvPr/>
        </p:nvSpPr>
        <p:spPr>
          <a:xfrm>
            <a:off x="2366010" y="5651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02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7" name="TextBox 1"/>
          <p:cNvSpPr txBox="1"/>
          <p:nvPr/>
        </p:nvSpPr>
        <p:spPr>
          <a:xfrm>
            <a:off x="5168265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03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29" name="TextBox 1"/>
          <p:cNvSpPr txBox="1"/>
          <p:nvPr/>
        </p:nvSpPr>
        <p:spPr>
          <a:xfrm>
            <a:off x="7800340" y="66040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latin typeface="+mj-lt"/>
                <a:cs typeface="Active SemiBold" charset="0"/>
              </a:rPr>
              <a:t>04</a:t>
            </a:r>
            <a:endParaRPr lang="en-US" sz="2800" b="1" dirty="0">
              <a:solidFill>
                <a:schemeClr val="tx1"/>
              </a:solidFill>
              <a:latin typeface="+mj-lt"/>
              <a:cs typeface="Active SemiBold" charset="0"/>
            </a:endParaRPr>
          </a:p>
        </p:txBody>
      </p:sp>
      <p:sp>
        <p:nvSpPr>
          <p:cNvPr id="31" name="TextBox 1"/>
          <p:cNvSpPr txBox="1"/>
          <p:nvPr/>
        </p:nvSpPr>
        <p:spPr>
          <a:xfrm>
            <a:off x="-219710" y="48895"/>
            <a:ext cx="1233170" cy="539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accent2">
                    <a:lumMod val="90000"/>
                  </a:schemeClr>
                </a:solidFill>
                <a:latin typeface="+mj-lt"/>
                <a:cs typeface="Active SemiBold" charset="0"/>
              </a:rPr>
              <a:t>01</a:t>
            </a:r>
            <a:endParaRPr lang="en-US" sz="2800" b="1" dirty="0">
              <a:solidFill>
                <a:schemeClr val="accent2">
                  <a:lumMod val="90000"/>
                </a:schemeClr>
              </a:solidFill>
              <a:latin typeface="+mj-lt"/>
              <a:cs typeface="Active SemiBold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10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项目简介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339465" y="6921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</a:rPr>
              <a:t>技术创新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239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>
                    <a:lumMod val="90000"/>
                  </a:schemeClr>
                </a:solidFill>
                <a:latin typeface="等线 Light" panose="02010600030101010101" charset="-122"/>
                <a:ea typeface="等线 Light" panose="02010600030101010101" charset="-122"/>
                <a:sym typeface="+mn-ea"/>
              </a:rPr>
              <a:t>功能展示</a:t>
            </a:r>
            <a:endParaRPr lang="zh-CN" altLang="en-US" b="1">
              <a:solidFill>
                <a:schemeClr val="accent2">
                  <a:lumMod val="90000"/>
                </a:schemeClr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02065" y="51435"/>
            <a:ext cx="1543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等线 Light" panose="02010600030101010101" charset="-122"/>
                <a:ea typeface="等线 Light" panose="02010600030101010101" charset="-122"/>
              </a:rPr>
              <a:t>未来展望</a:t>
            </a:r>
            <a:endParaRPr lang="zh-CN" altLang="en-US" b="1">
              <a:solidFill>
                <a:schemeClr val="tx1"/>
              </a:solidFill>
              <a:latin typeface="等线 Light" panose="02010600030101010101" charset="-122"/>
              <a:ea typeface="等线 Light" panose="0201060003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57140" y="725170"/>
            <a:ext cx="48634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WPS灵秀黑" charset="-122"/>
                <a:ea typeface="WPS灵秀黑" charset="-122"/>
              </a:rPr>
              <a:t>未来计划</a:t>
            </a:r>
            <a:endParaRPr lang="zh-CN" altLang="en-US" sz="4000">
              <a:latin typeface="WPS灵秀黑" charset="-122"/>
              <a:ea typeface="WPS灵秀黑" charset="-122"/>
            </a:endParaRPr>
          </a:p>
        </p:txBody>
      </p:sp>
      <p:grpSp>
        <p:nvGrpSpPr>
          <p:cNvPr id="8" name="Group 12"/>
          <p:cNvGrpSpPr/>
          <p:nvPr/>
        </p:nvGrpSpPr>
        <p:grpSpPr>
          <a:xfrm>
            <a:off x="4016818" y="804109"/>
            <a:ext cx="4341337" cy="549293"/>
            <a:chOff x="222693" y="1323104"/>
            <a:chExt cx="4341337" cy="549293"/>
          </a:xfrm>
        </p:grpSpPr>
        <p:sp>
          <p:nvSpPr>
            <p:cNvPr id="11" name="TextBox 9"/>
            <p:cNvSpPr txBox="1"/>
            <p:nvPr/>
          </p:nvSpPr>
          <p:spPr>
            <a:xfrm>
              <a:off x="222693" y="1323104"/>
              <a:ext cx="754005" cy="549275"/>
            </a:xfrm>
            <a:custGeom>
              <a:avLst/>
              <a:gdLst/>
              <a:ahLst/>
              <a:cxnLst/>
              <a:rect l="l" t="t" r="r" b="b"/>
              <a:pathLst>
                <a:path w="1376429" h="1002697">
                  <a:moveTo>
                    <a:pt x="1166774" y="0"/>
                  </a:moveTo>
                  <a:lnTo>
                    <a:pt x="1376429" y="154963"/>
                  </a:lnTo>
                  <a:cubicBezTo>
                    <a:pt x="1321736" y="179270"/>
                    <a:pt x="1270082" y="208136"/>
                    <a:pt x="1221467" y="241559"/>
                  </a:cubicBezTo>
                  <a:cubicBezTo>
                    <a:pt x="1172851" y="274983"/>
                    <a:pt x="1130819" y="311951"/>
                    <a:pt x="1095370" y="352464"/>
                  </a:cubicBezTo>
                  <a:cubicBezTo>
                    <a:pt x="1059922" y="392976"/>
                    <a:pt x="1033082" y="434502"/>
                    <a:pt x="1014850" y="477041"/>
                  </a:cubicBezTo>
                  <a:lnTo>
                    <a:pt x="1030043" y="486157"/>
                  </a:lnTo>
                  <a:cubicBezTo>
                    <a:pt x="1042197" y="478054"/>
                    <a:pt x="1055870" y="471977"/>
                    <a:pt x="1071062" y="467926"/>
                  </a:cubicBezTo>
                  <a:cubicBezTo>
                    <a:pt x="1086255" y="463874"/>
                    <a:pt x="1107018" y="461849"/>
                    <a:pt x="1133351" y="461849"/>
                  </a:cubicBezTo>
                  <a:cubicBezTo>
                    <a:pt x="1169813" y="461849"/>
                    <a:pt x="1206781" y="470964"/>
                    <a:pt x="1244256" y="489195"/>
                  </a:cubicBezTo>
                  <a:cubicBezTo>
                    <a:pt x="1281730" y="507426"/>
                    <a:pt x="1313128" y="534772"/>
                    <a:pt x="1338448" y="571234"/>
                  </a:cubicBezTo>
                  <a:cubicBezTo>
                    <a:pt x="1363769" y="607696"/>
                    <a:pt x="1376429" y="654286"/>
                    <a:pt x="1376429" y="711004"/>
                  </a:cubicBezTo>
                  <a:cubicBezTo>
                    <a:pt x="1376429" y="773799"/>
                    <a:pt x="1362250" y="826972"/>
                    <a:pt x="1333890" y="870524"/>
                  </a:cubicBezTo>
                  <a:cubicBezTo>
                    <a:pt x="1305532" y="914075"/>
                    <a:pt x="1268057" y="946992"/>
                    <a:pt x="1221467" y="969274"/>
                  </a:cubicBezTo>
                  <a:cubicBezTo>
                    <a:pt x="1174877" y="991556"/>
                    <a:pt x="1125248" y="1002697"/>
                    <a:pt x="1072582" y="1002697"/>
                  </a:cubicBezTo>
                  <a:cubicBezTo>
                    <a:pt x="999658" y="1002697"/>
                    <a:pt x="938382" y="985479"/>
                    <a:pt x="888754" y="951043"/>
                  </a:cubicBezTo>
                  <a:cubicBezTo>
                    <a:pt x="839126" y="916607"/>
                    <a:pt x="802664" y="871030"/>
                    <a:pt x="779369" y="814312"/>
                  </a:cubicBezTo>
                  <a:cubicBezTo>
                    <a:pt x="756074" y="757594"/>
                    <a:pt x="744426" y="696824"/>
                    <a:pt x="744426" y="632003"/>
                  </a:cubicBezTo>
                  <a:cubicBezTo>
                    <a:pt x="744426" y="538823"/>
                    <a:pt x="764176" y="450708"/>
                    <a:pt x="803677" y="367656"/>
                  </a:cubicBezTo>
                  <a:cubicBezTo>
                    <a:pt x="843177" y="284604"/>
                    <a:pt x="894831" y="211175"/>
                    <a:pt x="958639" y="147366"/>
                  </a:cubicBezTo>
                  <a:cubicBezTo>
                    <a:pt x="1022447" y="83559"/>
                    <a:pt x="1091826" y="34436"/>
                    <a:pt x="1166774" y="0"/>
                  </a:cubicBezTo>
                  <a:close/>
                  <a:moveTo>
                    <a:pt x="422348" y="0"/>
                  </a:moveTo>
                  <a:lnTo>
                    <a:pt x="632003" y="154963"/>
                  </a:lnTo>
                  <a:cubicBezTo>
                    <a:pt x="577311" y="179270"/>
                    <a:pt x="525656" y="208136"/>
                    <a:pt x="477041" y="241559"/>
                  </a:cubicBezTo>
                  <a:cubicBezTo>
                    <a:pt x="428425" y="274983"/>
                    <a:pt x="386393" y="311951"/>
                    <a:pt x="350944" y="352464"/>
                  </a:cubicBezTo>
                  <a:cubicBezTo>
                    <a:pt x="315495" y="392976"/>
                    <a:pt x="288655" y="434502"/>
                    <a:pt x="270424" y="477041"/>
                  </a:cubicBezTo>
                  <a:lnTo>
                    <a:pt x="285617" y="486157"/>
                  </a:lnTo>
                  <a:cubicBezTo>
                    <a:pt x="297771" y="478054"/>
                    <a:pt x="311444" y="471977"/>
                    <a:pt x="326636" y="467926"/>
                  </a:cubicBezTo>
                  <a:cubicBezTo>
                    <a:pt x="341829" y="463874"/>
                    <a:pt x="362591" y="461849"/>
                    <a:pt x="388925" y="461849"/>
                  </a:cubicBezTo>
                  <a:cubicBezTo>
                    <a:pt x="425387" y="461849"/>
                    <a:pt x="462355" y="470964"/>
                    <a:pt x="499829" y="489195"/>
                  </a:cubicBezTo>
                  <a:cubicBezTo>
                    <a:pt x="537304" y="507426"/>
                    <a:pt x="568701" y="534772"/>
                    <a:pt x="594022" y="571234"/>
                  </a:cubicBezTo>
                  <a:cubicBezTo>
                    <a:pt x="619343" y="607696"/>
                    <a:pt x="632003" y="654286"/>
                    <a:pt x="632003" y="711004"/>
                  </a:cubicBezTo>
                  <a:cubicBezTo>
                    <a:pt x="632003" y="773799"/>
                    <a:pt x="617823" y="826972"/>
                    <a:pt x="589464" y="870524"/>
                  </a:cubicBezTo>
                  <a:cubicBezTo>
                    <a:pt x="561105" y="914075"/>
                    <a:pt x="523631" y="946992"/>
                    <a:pt x="477041" y="969274"/>
                  </a:cubicBezTo>
                  <a:cubicBezTo>
                    <a:pt x="430451" y="991556"/>
                    <a:pt x="380822" y="1002697"/>
                    <a:pt x="328156" y="1002697"/>
                  </a:cubicBezTo>
                  <a:cubicBezTo>
                    <a:pt x="255232" y="1002697"/>
                    <a:pt x="193956" y="985479"/>
                    <a:pt x="144328" y="951043"/>
                  </a:cubicBezTo>
                  <a:cubicBezTo>
                    <a:pt x="94699" y="916607"/>
                    <a:pt x="58238" y="871030"/>
                    <a:pt x="34943" y="814312"/>
                  </a:cubicBezTo>
                  <a:cubicBezTo>
                    <a:pt x="11648" y="757594"/>
                    <a:pt x="0" y="696824"/>
                    <a:pt x="0" y="632003"/>
                  </a:cubicBezTo>
                  <a:cubicBezTo>
                    <a:pt x="0" y="538823"/>
                    <a:pt x="19750" y="450708"/>
                    <a:pt x="59250" y="367656"/>
                  </a:cubicBezTo>
                  <a:cubicBezTo>
                    <a:pt x="98751" y="284604"/>
                    <a:pt x="150405" y="211175"/>
                    <a:pt x="214213" y="147366"/>
                  </a:cubicBezTo>
                  <a:cubicBezTo>
                    <a:pt x="278021" y="83559"/>
                    <a:pt x="347399" y="34436"/>
                    <a:pt x="422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ID" sz="23900" b="1" dirty="0">
                <a:solidFill>
                  <a:schemeClr val="accent2"/>
                </a:solidFill>
                <a:latin typeface="Saturday Sans Regular" panose="02010600010101010101" charset="-122"/>
                <a:cs typeface="Active SemiBold" charset="0"/>
                <a:sym typeface="Saturday Sans Regular" panose="02010600010101010101" charset="-122"/>
              </a:endParaRPr>
            </a:p>
          </p:txBody>
        </p:sp>
        <p:sp>
          <p:nvSpPr>
            <p:cNvPr id="20" name="TextBox 10"/>
            <p:cNvSpPr txBox="1"/>
            <p:nvPr/>
          </p:nvSpPr>
          <p:spPr>
            <a:xfrm rot="10800000">
              <a:off x="3810025" y="1323122"/>
              <a:ext cx="754005" cy="549275"/>
            </a:xfrm>
            <a:custGeom>
              <a:avLst/>
              <a:gdLst/>
              <a:ahLst/>
              <a:cxnLst/>
              <a:rect l="l" t="t" r="r" b="b"/>
              <a:pathLst>
                <a:path w="1376429" h="1002697">
                  <a:moveTo>
                    <a:pt x="1166774" y="0"/>
                  </a:moveTo>
                  <a:lnTo>
                    <a:pt x="1376429" y="154963"/>
                  </a:lnTo>
                  <a:cubicBezTo>
                    <a:pt x="1321736" y="179270"/>
                    <a:pt x="1270082" y="208136"/>
                    <a:pt x="1221467" y="241559"/>
                  </a:cubicBezTo>
                  <a:cubicBezTo>
                    <a:pt x="1172851" y="274983"/>
                    <a:pt x="1130819" y="311951"/>
                    <a:pt x="1095370" y="352464"/>
                  </a:cubicBezTo>
                  <a:cubicBezTo>
                    <a:pt x="1059922" y="392976"/>
                    <a:pt x="1033082" y="434502"/>
                    <a:pt x="1014850" y="477041"/>
                  </a:cubicBezTo>
                  <a:lnTo>
                    <a:pt x="1030043" y="486157"/>
                  </a:lnTo>
                  <a:cubicBezTo>
                    <a:pt x="1042197" y="478054"/>
                    <a:pt x="1055870" y="471977"/>
                    <a:pt x="1071062" y="467926"/>
                  </a:cubicBezTo>
                  <a:cubicBezTo>
                    <a:pt x="1086255" y="463874"/>
                    <a:pt x="1107018" y="461849"/>
                    <a:pt x="1133351" y="461849"/>
                  </a:cubicBezTo>
                  <a:cubicBezTo>
                    <a:pt x="1169813" y="461849"/>
                    <a:pt x="1206781" y="470964"/>
                    <a:pt x="1244256" y="489195"/>
                  </a:cubicBezTo>
                  <a:cubicBezTo>
                    <a:pt x="1281730" y="507426"/>
                    <a:pt x="1313128" y="534772"/>
                    <a:pt x="1338448" y="571234"/>
                  </a:cubicBezTo>
                  <a:cubicBezTo>
                    <a:pt x="1363769" y="607696"/>
                    <a:pt x="1376429" y="654286"/>
                    <a:pt x="1376429" y="711004"/>
                  </a:cubicBezTo>
                  <a:cubicBezTo>
                    <a:pt x="1376429" y="773799"/>
                    <a:pt x="1362250" y="826972"/>
                    <a:pt x="1333890" y="870524"/>
                  </a:cubicBezTo>
                  <a:cubicBezTo>
                    <a:pt x="1305532" y="914075"/>
                    <a:pt x="1268057" y="946992"/>
                    <a:pt x="1221467" y="969274"/>
                  </a:cubicBezTo>
                  <a:cubicBezTo>
                    <a:pt x="1174877" y="991556"/>
                    <a:pt x="1125248" y="1002697"/>
                    <a:pt x="1072582" y="1002697"/>
                  </a:cubicBezTo>
                  <a:cubicBezTo>
                    <a:pt x="999658" y="1002697"/>
                    <a:pt x="938382" y="985479"/>
                    <a:pt x="888754" y="951043"/>
                  </a:cubicBezTo>
                  <a:cubicBezTo>
                    <a:pt x="839126" y="916607"/>
                    <a:pt x="802664" y="871030"/>
                    <a:pt x="779369" y="814312"/>
                  </a:cubicBezTo>
                  <a:cubicBezTo>
                    <a:pt x="756074" y="757594"/>
                    <a:pt x="744426" y="696824"/>
                    <a:pt x="744426" y="632003"/>
                  </a:cubicBezTo>
                  <a:cubicBezTo>
                    <a:pt x="744426" y="538823"/>
                    <a:pt x="764176" y="450708"/>
                    <a:pt x="803677" y="367656"/>
                  </a:cubicBezTo>
                  <a:cubicBezTo>
                    <a:pt x="843177" y="284604"/>
                    <a:pt x="894831" y="211175"/>
                    <a:pt x="958639" y="147366"/>
                  </a:cubicBezTo>
                  <a:cubicBezTo>
                    <a:pt x="1022447" y="83559"/>
                    <a:pt x="1091826" y="34436"/>
                    <a:pt x="1166774" y="0"/>
                  </a:cubicBezTo>
                  <a:close/>
                  <a:moveTo>
                    <a:pt x="422348" y="0"/>
                  </a:moveTo>
                  <a:lnTo>
                    <a:pt x="632003" y="154963"/>
                  </a:lnTo>
                  <a:cubicBezTo>
                    <a:pt x="577311" y="179270"/>
                    <a:pt x="525656" y="208136"/>
                    <a:pt x="477041" y="241559"/>
                  </a:cubicBezTo>
                  <a:cubicBezTo>
                    <a:pt x="428425" y="274983"/>
                    <a:pt x="386393" y="311951"/>
                    <a:pt x="350944" y="352464"/>
                  </a:cubicBezTo>
                  <a:cubicBezTo>
                    <a:pt x="315495" y="392976"/>
                    <a:pt x="288655" y="434502"/>
                    <a:pt x="270424" y="477041"/>
                  </a:cubicBezTo>
                  <a:lnTo>
                    <a:pt x="285617" y="486157"/>
                  </a:lnTo>
                  <a:cubicBezTo>
                    <a:pt x="297771" y="478054"/>
                    <a:pt x="311444" y="471977"/>
                    <a:pt x="326636" y="467926"/>
                  </a:cubicBezTo>
                  <a:cubicBezTo>
                    <a:pt x="341829" y="463874"/>
                    <a:pt x="362591" y="461849"/>
                    <a:pt x="388925" y="461849"/>
                  </a:cubicBezTo>
                  <a:cubicBezTo>
                    <a:pt x="425387" y="461849"/>
                    <a:pt x="462355" y="470964"/>
                    <a:pt x="499829" y="489195"/>
                  </a:cubicBezTo>
                  <a:cubicBezTo>
                    <a:pt x="537304" y="507426"/>
                    <a:pt x="568701" y="534772"/>
                    <a:pt x="594022" y="571234"/>
                  </a:cubicBezTo>
                  <a:cubicBezTo>
                    <a:pt x="619343" y="607696"/>
                    <a:pt x="632003" y="654286"/>
                    <a:pt x="632003" y="711004"/>
                  </a:cubicBezTo>
                  <a:cubicBezTo>
                    <a:pt x="632003" y="773799"/>
                    <a:pt x="617823" y="826972"/>
                    <a:pt x="589464" y="870524"/>
                  </a:cubicBezTo>
                  <a:cubicBezTo>
                    <a:pt x="561105" y="914075"/>
                    <a:pt x="523631" y="946992"/>
                    <a:pt x="477041" y="969274"/>
                  </a:cubicBezTo>
                  <a:cubicBezTo>
                    <a:pt x="430451" y="991556"/>
                    <a:pt x="380822" y="1002697"/>
                    <a:pt x="328156" y="1002697"/>
                  </a:cubicBezTo>
                  <a:cubicBezTo>
                    <a:pt x="255232" y="1002697"/>
                    <a:pt x="193956" y="985479"/>
                    <a:pt x="144328" y="951043"/>
                  </a:cubicBezTo>
                  <a:cubicBezTo>
                    <a:pt x="94699" y="916607"/>
                    <a:pt x="58238" y="871030"/>
                    <a:pt x="34943" y="814312"/>
                  </a:cubicBezTo>
                  <a:cubicBezTo>
                    <a:pt x="11648" y="757594"/>
                    <a:pt x="0" y="696824"/>
                    <a:pt x="0" y="632003"/>
                  </a:cubicBezTo>
                  <a:cubicBezTo>
                    <a:pt x="0" y="538823"/>
                    <a:pt x="19750" y="450708"/>
                    <a:pt x="59250" y="367656"/>
                  </a:cubicBezTo>
                  <a:cubicBezTo>
                    <a:pt x="98751" y="284604"/>
                    <a:pt x="150405" y="211175"/>
                    <a:pt x="214213" y="147366"/>
                  </a:cubicBezTo>
                  <a:cubicBezTo>
                    <a:pt x="278021" y="83559"/>
                    <a:pt x="347399" y="34436"/>
                    <a:pt x="422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ID" sz="23900" b="1" dirty="0">
                <a:solidFill>
                  <a:schemeClr val="accent2"/>
                </a:solidFill>
                <a:latin typeface="Saturday Sans Regular" panose="02010600010101010101" charset="-122"/>
                <a:cs typeface="Active SemiBold" charset="0"/>
                <a:sym typeface="Saturday Sans Regular" panose="02010600010101010101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t="3223" b="5928"/>
          <a:stretch>
            <a:fillRect/>
          </a:stretch>
        </p:blipFill>
        <p:spPr>
          <a:xfrm>
            <a:off x="2895600" y="629920"/>
            <a:ext cx="9315450" cy="662114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5325" y="2071438"/>
            <a:ext cx="10801350" cy="168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00" b="1" dirty="0">
                <a:solidFill>
                  <a:schemeClr val="accent1"/>
                </a:solidFill>
                <a:latin typeface="Bodoni MT" panose="02070603080606020203" charset="0"/>
                <a:ea typeface="微软雅黑 Light" panose="020B0502040204020203" charset="-122"/>
                <a:cs typeface="Bodoni MT" panose="02070603080606020203" charset="0"/>
              </a:rPr>
              <a:t>Thank You</a:t>
            </a:r>
            <a:endParaRPr lang="en-US" sz="11500" b="1" dirty="0">
              <a:solidFill>
                <a:schemeClr val="accent1"/>
              </a:solidFill>
              <a:latin typeface="Bodoni MT" panose="02070603080606020203" charset="0"/>
              <a:ea typeface="微软雅黑 Light" panose="020B0502040204020203" charset="-122"/>
              <a:cs typeface="Bodoni MT" panose="02070603080606020203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9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308725"/>
            <a:ext cx="12192000" cy="549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pic>
        <p:nvPicPr>
          <p:cNvPr id="41" name="Picture 68" descr="华东师范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35" y="70485"/>
            <a:ext cx="1761490" cy="3771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2846070" y="3676650"/>
            <a:ext cx="11025505" cy="19742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4800" dirty="0">
                <a:solidFill>
                  <a:schemeClr val="accent4">
                    <a:lumMod val="75000"/>
                  </a:schemeClr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Ra</a:t>
            </a:r>
            <a:r>
              <a:rPr lang="zh-CN" altLang="en-US" sz="4800" dirty="0">
                <a:solidFill>
                  <a:srgbClr val="F9B105"/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in</a:t>
            </a:r>
            <a:r>
              <a:rPr lang="zh-CN" altLang="en-US" sz="4800" dirty="0">
                <a:solidFill>
                  <a:srgbClr val="92D050"/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bo</a:t>
            </a:r>
            <a:r>
              <a:rPr lang="zh-CN" altLang="en-US" sz="4800" dirty="0">
                <a:solidFill>
                  <a:schemeClr val="accent2">
                    <a:lumMod val="75000"/>
                  </a:schemeClr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w</a:t>
            </a:r>
            <a:r>
              <a:rPr lang="zh-CN" altLang="en-US" sz="4800" dirty="0">
                <a:solidFill>
                  <a:schemeClr val="accent1">
                    <a:lumMod val="50000"/>
                    <a:lumOff val="50000"/>
                  </a:schemeClr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Spy</a:t>
            </a:r>
            <a:r>
              <a:rPr lang="zh-CN" altLang="en-US" sz="4800" dirty="0">
                <a:solidFill>
                  <a:schemeClr val="accent1"/>
                </a:solidFill>
                <a:latin typeface="Ev - YunYou" panose="020B0604000101010104" charset="-122"/>
                <a:ea typeface="Ev - YunYou" panose="020B0604000101010104" charset="-122"/>
                <a:cs typeface="Ev - YunYou" panose="020B0604000101010104" charset="-122"/>
              </a:rPr>
              <a:t>：</a:t>
            </a:r>
            <a:endParaRPr lang="zh-CN" altLang="en-US" sz="5400" b="1" dirty="0">
              <a:solidFill>
                <a:schemeClr val="accent1"/>
              </a:solidFill>
              <a:latin typeface="Ev - YunYou" panose="020B0604000101010104" charset="-122"/>
              <a:ea typeface="Ev - YunYou" panose="020B0604000101010104" charset="-122"/>
              <a:cs typeface="Ev - YunYou" panose="020B0604000101010104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5400" b="1" dirty="0">
              <a:solidFill>
                <a:schemeClr val="accent1"/>
              </a:solidFill>
              <a:latin typeface="Ev - YunYou" panose="020B0604000101010104" charset="-122"/>
              <a:ea typeface="Ev - YunYou" panose="020B0604000101010104" charset="-122"/>
              <a:cs typeface="Ev - YunYou" panose="020B0604000101010104" charset="-122"/>
            </a:endParaRPr>
          </a:p>
        </p:txBody>
      </p:sp>
      <p:pic>
        <p:nvPicPr>
          <p:cNvPr id="8" name="图片 7" descr="开源项目动态社交图智能分析系统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065" y="2529840"/>
            <a:ext cx="7209155" cy="4055110"/>
          </a:xfrm>
          <a:prstGeom prst="rect">
            <a:avLst/>
          </a:prstGeom>
        </p:spPr>
      </p:pic>
      <p:sp>
        <p:nvSpPr>
          <p:cNvPr id="17" name="Rectangle: Rounded Corners 9"/>
          <p:cNvSpPr/>
          <p:nvPr/>
        </p:nvSpPr>
        <p:spPr>
          <a:xfrm>
            <a:off x="4357370" y="5149215"/>
            <a:ext cx="3690620" cy="511175"/>
          </a:xfrm>
          <a:prstGeom prst="roundRect">
            <a:avLst>
              <a:gd name="adj" fmla="val 50000"/>
            </a:avLst>
          </a:prstGeom>
          <a:solidFill>
            <a:schemeClr val="accent2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38980" y="5229860"/>
            <a:ext cx="31140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+mn-ea"/>
              </a:rPr>
              <a:t>Rainbow</a:t>
            </a:r>
            <a:r>
              <a:rPr lang="zh-CN" altLang="en-US" b="1"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+mn-ea"/>
              </a:rPr>
              <a:t>队：鲍鑫宇、李昕芮</a:t>
            </a:r>
            <a:endParaRPr lang="zh-CN" altLang="en-US" b="1"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</a:endParaRPr>
          </a:p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0" y="50800"/>
            <a:ext cx="12191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PS灵秀黑" charset="-122"/>
                <a:ea typeface="WPS灵秀黑" charset="-122"/>
              </a:rPr>
              <a:t>“OpenRank杯”开源数字生态分析与应用创新赛</a:t>
            </a:r>
            <a:endParaRPr lang="zh-CN" alt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PS灵秀黑" charset="-122"/>
              <a:ea typeface="WPS灵秀黑" charset="-122"/>
              <a:cs typeface="等线 Light" panose="0201060003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5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6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7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8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9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0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1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2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3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4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5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6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7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8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19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0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1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2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23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24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25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26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27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28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29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30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31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32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33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34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35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36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37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38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39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40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41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42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43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44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45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46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47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48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49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50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51.xml><?xml version="1.0" encoding="utf-8"?>
<p:tagLst xmlns:p="http://schemas.openxmlformats.org/presentationml/2006/main">
  <p:tag name="KSO_WM_DIAGRAM_VIRTUALLY_FRAME" val="{&quot;height&quot;:363.05039370078737,&quot;left&quot;:33.100078740157485,&quot;top&quot;:138.7996062992126,&quot;width&quot;:872.1498425196849}"/>
</p:tagLst>
</file>

<file path=ppt/tags/tag52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53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54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55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56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57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ags/tag58.xml><?xml version="1.0" encoding="utf-8"?>
<p:tagLst xmlns:p="http://schemas.openxmlformats.org/presentationml/2006/main">
  <p:tag name="KSO_WM_DIAGRAM_VIRTUALLY_FRAME" val="{&quot;height&quot;:306,&quot;left&quot;:54.75,&quot;top&quot;:131.5,&quot;width&quot;:319.65}"/>
</p:tagLst>
</file>

<file path=ppt/theme/theme1.xml><?xml version="1.0" encoding="utf-8"?>
<a:theme xmlns:a="http://schemas.openxmlformats.org/drawingml/2006/main" name="Office Theme">
  <a:themeElements>
    <a:clrScheme name="col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161346"/>
      </a:accent1>
      <a:accent2>
        <a:srgbClr val="9FC4F9"/>
      </a:accent2>
      <a:accent3>
        <a:srgbClr val="E7FFB2"/>
      </a:accent3>
      <a:accent4>
        <a:srgbClr val="EB5B33"/>
      </a:accent4>
      <a:accent5>
        <a:srgbClr val="FAE5E7"/>
      </a:accent5>
      <a:accent6>
        <a:srgbClr val="F7AD19"/>
      </a:accent6>
      <a:hlink>
        <a:srgbClr val="0563C1"/>
      </a:hlink>
      <a:folHlink>
        <a:srgbClr val="954F72"/>
      </a:folHlink>
    </a:clrScheme>
    <a:fontScheme name="Custom 23">
      <a:majorFont>
        <a:latin typeface="SWMono"/>
        <a:ea typeface=""/>
        <a:cs typeface=""/>
      </a:majorFont>
      <a:minorFont>
        <a:latin typeface="Saturday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2779</Words>
  <Application>WPS 演示</Application>
  <PresentationFormat>宽屏</PresentationFormat>
  <Paragraphs>573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8" baseType="lpstr">
      <vt:lpstr>Arial</vt:lpstr>
      <vt:lpstr>宋体</vt:lpstr>
      <vt:lpstr>Wingdings</vt:lpstr>
      <vt:lpstr>Caveat Brush</vt:lpstr>
      <vt:lpstr>Saturday Sans Regular</vt:lpstr>
      <vt:lpstr>等线 Light</vt:lpstr>
      <vt:lpstr>Ev - YunYou</vt:lpstr>
      <vt:lpstr>WPS灵秀黑</vt:lpstr>
      <vt:lpstr>方正清刻本悦宋简体</vt:lpstr>
      <vt:lpstr>Space Grotesk SemiBold</vt:lpstr>
      <vt:lpstr>SWAstro</vt:lpstr>
      <vt:lpstr>汇文明朝体</vt:lpstr>
      <vt:lpstr>Active SemiBold</vt:lpstr>
      <vt:lpstr>微软雅黑</vt:lpstr>
      <vt:lpstr>方正大标宋简体</vt:lpstr>
      <vt:lpstr>仓耳非白 W01</vt:lpstr>
      <vt:lpstr>Calibri</vt:lpstr>
      <vt:lpstr>等线</vt:lpstr>
      <vt:lpstr>Original Garamond Std Roman</vt:lpstr>
      <vt:lpstr>Crunch SemiBold</vt:lpstr>
      <vt:lpstr>Bodoni MT</vt:lpstr>
      <vt:lpstr>微软雅黑 Light</vt:lpstr>
      <vt:lpstr>SWMono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错误纠正</cp:lastModifiedBy>
  <cp:revision>39</cp:revision>
  <dcterms:created xsi:type="dcterms:W3CDTF">2025-04-07T09:17:00Z</dcterms:created>
  <dcterms:modified xsi:type="dcterms:W3CDTF">2026-01-13T18:05:01Z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B39CB9DD3875407194C007C35EC151A8_13</vt:lpwstr>
  </property>
</Properties>
</file>